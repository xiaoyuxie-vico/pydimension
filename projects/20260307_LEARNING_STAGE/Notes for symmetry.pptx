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F33BD-5857-433A-9774-5E54DD8BB242}" v="715" dt="2025-12-30T06:16:06.9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3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tao Gan" userId="bc97cd63-5d64-4c71-aced-8ad581b9e859" providerId="ADAL" clId="{2DEFB776-915C-4E62-805B-E50DEF042678}"/>
    <pc:docChg chg="undo custSel addSld modSld">
      <pc:chgData name="Zhengtao Gan" userId="bc97cd63-5d64-4c71-aced-8ad581b9e859" providerId="ADAL" clId="{2DEFB776-915C-4E62-805B-E50DEF042678}" dt="2025-12-30T06:16:12.190" v="5211" actId="14100"/>
      <pc:docMkLst>
        <pc:docMk/>
      </pc:docMkLst>
      <pc:sldChg chg="modSp mod">
        <pc:chgData name="Zhengtao Gan" userId="bc97cd63-5d64-4c71-aced-8ad581b9e859" providerId="ADAL" clId="{2DEFB776-915C-4E62-805B-E50DEF042678}" dt="2025-12-21T20:01:06.410" v="859" actId="20577"/>
        <pc:sldMkLst>
          <pc:docMk/>
          <pc:sldMk cId="1578907974" sldId="266"/>
        </pc:sldMkLst>
        <pc:spChg chg="mod">
          <ac:chgData name="Zhengtao Gan" userId="bc97cd63-5d64-4c71-aced-8ad581b9e859" providerId="ADAL" clId="{2DEFB776-915C-4E62-805B-E50DEF042678}" dt="2025-12-21T20:01:06.410" v="859" actId="20577"/>
          <ac:spMkLst>
            <pc:docMk/>
            <pc:sldMk cId="1578907974" sldId="266"/>
            <ac:spMk id="3" creationId="{D1099C06-4FF2-A068-24BD-6FBDC37F6D79}"/>
          </ac:spMkLst>
        </pc:spChg>
      </pc:sldChg>
      <pc:sldChg chg="modSp mod">
        <pc:chgData name="Zhengtao Gan" userId="bc97cd63-5d64-4c71-aced-8ad581b9e859" providerId="ADAL" clId="{2DEFB776-915C-4E62-805B-E50DEF042678}" dt="2025-12-22T23:43:29.452" v="3165" actId="403"/>
        <pc:sldMkLst>
          <pc:docMk/>
          <pc:sldMk cId="1752073310" sldId="267"/>
        </pc:sldMkLst>
        <pc:spChg chg="mod">
          <ac:chgData name="Zhengtao Gan" userId="bc97cd63-5d64-4c71-aced-8ad581b9e859" providerId="ADAL" clId="{2DEFB776-915C-4E62-805B-E50DEF042678}" dt="2025-12-22T23:43:29.452" v="3165" actId="403"/>
          <ac:spMkLst>
            <pc:docMk/>
            <pc:sldMk cId="1752073310" sldId="267"/>
            <ac:spMk id="3" creationId="{DD73321F-6523-7F0C-C474-59593CF4991B}"/>
          </ac:spMkLst>
        </pc:spChg>
      </pc:sldChg>
      <pc:sldChg chg="modSp mod">
        <pc:chgData name="Zhengtao Gan" userId="bc97cd63-5d64-4c71-aced-8ad581b9e859" providerId="ADAL" clId="{2DEFB776-915C-4E62-805B-E50DEF042678}" dt="2025-12-22T19:09:14.998" v="1486" actId="113"/>
        <pc:sldMkLst>
          <pc:docMk/>
          <pc:sldMk cId="433523349" sldId="268"/>
        </pc:sldMkLst>
        <pc:spChg chg="mod">
          <ac:chgData name="Zhengtao Gan" userId="bc97cd63-5d64-4c71-aced-8ad581b9e859" providerId="ADAL" clId="{2DEFB776-915C-4E62-805B-E50DEF042678}" dt="2025-12-21T08:32:05.848" v="845" actId="27636"/>
          <ac:spMkLst>
            <pc:docMk/>
            <pc:sldMk cId="433523349" sldId="268"/>
            <ac:spMk id="2" creationId="{7D67F11B-DD80-22AF-667B-441429C375B2}"/>
          </ac:spMkLst>
        </pc:spChg>
        <pc:spChg chg="mod">
          <ac:chgData name="Zhengtao Gan" userId="bc97cd63-5d64-4c71-aced-8ad581b9e859" providerId="ADAL" clId="{2DEFB776-915C-4E62-805B-E50DEF042678}" dt="2025-12-22T19:09:14.998" v="1486" actId="113"/>
          <ac:spMkLst>
            <pc:docMk/>
            <pc:sldMk cId="433523349" sldId="268"/>
            <ac:spMk id="3" creationId="{2A393157-C570-A551-57FF-70D7A1692D7B}"/>
          </ac:spMkLst>
        </pc:spChg>
      </pc:sldChg>
      <pc:sldChg chg="modSp new mod">
        <pc:chgData name="Zhengtao Gan" userId="bc97cd63-5d64-4c71-aced-8ad581b9e859" providerId="ADAL" clId="{2DEFB776-915C-4E62-805B-E50DEF042678}" dt="2025-12-21T23:10:41.954" v="1324" actId="20577"/>
        <pc:sldMkLst>
          <pc:docMk/>
          <pc:sldMk cId="3764826055" sldId="269"/>
        </pc:sldMkLst>
        <pc:spChg chg="mod">
          <ac:chgData name="Zhengtao Gan" userId="bc97cd63-5d64-4c71-aced-8ad581b9e859" providerId="ADAL" clId="{2DEFB776-915C-4E62-805B-E50DEF042678}" dt="2025-12-21T22:18:47.973" v="1007" actId="27636"/>
          <ac:spMkLst>
            <pc:docMk/>
            <pc:sldMk cId="3764826055" sldId="269"/>
            <ac:spMk id="2" creationId="{98416164-9EC9-8102-6DF0-62C54F468E66}"/>
          </ac:spMkLst>
        </pc:spChg>
        <pc:spChg chg="mod">
          <ac:chgData name="Zhengtao Gan" userId="bc97cd63-5d64-4c71-aced-8ad581b9e859" providerId="ADAL" clId="{2DEFB776-915C-4E62-805B-E50DEF042678}" dt="2025-12-21T23:10:41.954" v="1324" actId="20577"/>
          <ac:spMkLst>
            <pc:docMk/>
            <pc:sldMk cId="3764826055" sldId="269"/>
            <ac:spMk id="3" creationId="{241A4C6B-F72F-1E26-B276-6011F82A23CC}"/>
          </ac:spMkLst>
        </pc:spChg>
      </pc:sldChg>
      <pc:sldChg chg="modSp new mod">
        <pc:chgData name="Zhengtao Gan" userId="bc97cd63-5d64-4c71-aced-8ad581b9e859" providerId="ADAL" clId="{2DEFB776-915C-4E62-805B-E50DEF042678}" dt="2025-12-22T20:20:14.295" v="2220" actId="113"/>
        <pc:sldMkLst>
          <pc:docMk/>
          <pc:sldMk cId="3797757812" sldId="270"/>
        </pc:sldMkLst>
        <pc:spChg chg="mod">
          <ac:chgData name="Zhengtao Gan" userId="bc97cd63-5d64-4c71-aced-8ad581b9e859" providerId="ADAL" clId="{2DEFB776-915C-4E62-805B-E50DEF042678}" dt="2025-12-22T19:03:18.869" v="1337" actId="27636"/>
          <ac:spMkLst>
            <pc:docMk/>
            <pc:sldMk cId="3797757812" sldId="270"/>
            <ac:spMk id="2" creationId="{D0AABA29-540C-392B-7843-09B5C2ACAB98}"/>
          </ac:spMkLst>
        </pc:spChg>
        <pc:spChg chg="mod">
          <ac:chgData name="Zhengtao Gan" userId="bc97cd63-5d64-4c71-aced-8ad581b9e859" providerId="ADAL" clId="{2DEFB776-915C-4E62-805B-E50DEF042678}" dt="2025-12-22T20:20:14.295" v="2220" actId="113"/>
          <ac:spMkLst>
            <pc:docMk/>
            <pc:sldMk cId="3797757812" sldId="270"/>
            <ac:spMk id="3" creationId="{7CB5BBD5-3CC8-2A3A-54F8-2E90AFE2E809}"/>
          </ac:spMkLst>
        </pc:spChg>
      </pc:sldChg>
      <pc:sldChg chg="modSp new mod">
        <pc:chgData name="Zhengtao Gan" userId="bc97cd63-5d64-4c71-aced-8ad581b9e859" providerId="ADAL" clId="{2DEFB776-915C-4E62-805B-E50DEF042678}" dt="2025-12-22T23:43:06.432" v="3162" actId="113"/>
        <pc:sldMkLst>
          <pc:docMk/>
          <pc:sldMk cId="1380568954" sldId="271"/>
        </pc:sldMkLst>
        <pc:spChg chg="mod">
          <ac:chgData name="Zhengtao Gan" userId="bc97cd63-5d64-4c71-aced-8ad581b9e859" providerId="ADAL" clId="{2DEFB776-915C-4E62-805B-E50DEF042678}" dt="2025-12-22T23:01:43.729" v="2584" actId="14100"/>
          <ac:spMkLst>
            <pc:docMk/>
            <pc:sldMk cId="1380568954" sldId="271"/>
            <ac:spMk id="2" creationId="{2EACC816-95D8-03C2-8F90-33FF32746F87}"/>
          </ac:spMkLst>
        </pc:spChg>
        <pc:spChg chg="mod">
          <ac:chgData name="Zhengtao Gan" userId="bc97cd63-5d64-4c71-aced-8ad581b9e859" providerId="ADAL" clId="{2DEFB776-915C-4E62-805B-E50DEF042678}" dt="2025-12-22T23:43:06.432" v="3162" actId="113"/>
          <ac:spMkLst>
            <pc:docMk/>
            <pc:sldMk cId="1380568954" sldId="271"/>
            <ac:spMk id="3" creationId="{A64CCA20-D1B3-1D2B-A303-12A6F2BD217E}"/>
          </ac:spMkLst>
        </pc:spChg>
      </pc:sldChg>
      <pc:sldChg chg="modSp new mod">
        <pc:chgData name="Zhengtao Gan" userId="bc97cd63-5d64-4c71-aced-8ad581b9e859" providerId="ADAL" clId="{2DEFB776-915C-4E62-805B-E50DEF042678}" dt="2025-12-23T04:11:54.339" v="4288" actId="27636"/>
        <pc:sldMkLst>
          <pc:docMk/>
          <pc:sldMk cId="1966220975" sldId="272"/>
        </pc:sldMkLst>
        <pc:spChg chg="mod">
          <ac:chgData name="Zhengtao Gan" userId="bc97cd63-5d64-4c71-aced-8ad581b9e859" providerId="ADAL" clId="{2DEFB776-915C-4E62-805B-E50DEF042678}" dt="2025-12-23T00:45:00.392" v="3197" actId="27636"/>
          <ac:spMkLst>
            <pc:docMk/>
            <pc:sldMk cId="1966220975" sldId="272"/>
            <ac:spMk id="2" creationId="{A2B24127-B4AD-95CB-80C2-CA56563CFDB0}"/>
          </ac:spMkLst>
        </pc:spChg>
        <pc:spChg chg="mod">
          <ac:chgData name="Zhengtao Gan" userId="bc97cd63-5d64-4c71-aced-8ad581b9e859" providerId="ADAL" clId="{2DEFB776-915C-4E62-805B-E50DEF042678}" dt="2025-12-23T04:11:54.339" v="4288" actId="27636"/>
          <ac:spMkLst>
            <pc:docMk/>
            <pc:sldMk cId="1966220975" sldId="272"/>
            <ac:spMk id="3" creationId="{1DAA8508-B755-393F-C842-04E93547CE86}"/>
          </ac:spMkLst>
        </pc:spChg>
      </pc:sldChg>
      <pc:sldChg chg="delSp modSp new mod">
        <pc:chgData name="Zhengtao Gan" userId="bc97cd63-5d64-4c71-aced-8ad581b9e859" providerId="ADAL" clId="{2DEFB776-915C-4E62-805B-E50DEF042678}" dt="2025-12-23T04:55:33.366" v="4488" actId="113"/>
        <pc:sldMkLst>
          <pc:docMk/>
          <pc:sldMk cId="3608826918" sldId="273"/>
        </pc:sldMkLst>
        <pc:spChg chg="mod">
          <ac:chgData name="Zhengtao Gan" userId="bc97cd63-5d64-4c71-aced-8ad581b9e859" providerId="ADAL" clId="{2DEFB776-915C-4E62-805B-E50DEF042678}" dt="2025-12-23T04:55:33.366" v="4488" actId="113"/>
          <ac:spMkLst>
            <pc:docMk/>
            <pc:sldMk cId="3608826918" sldId="273"/>
            <ac:spMk id="3" creationId="{C84CE40E-FEF9-BB39-7D30-3F22E14AECEA}"/>
          </ac:spMkLst>
        </pc:spChg>
      </pc:sldChg>
      <pc:sldChg chg="modSp new mod">
        <pc:chgData name="Zhengtao Gan" userId="bc97cd63-5d64-4c71-aced-8ad581b9e859" providerId="ADAL" clId="{2DEFB776-915C-4E62-805B-E50DEF042678}" dt="2025-12-23T05:20:25.979" v="5006" actId="20577"/>
        <pc:sldMkLst>
          <pc:docMk/>
          <pc:sldMk cId="2757599380" sldId="274"/>
        </pc:sldMkLst>
        <pc:spChg chg="mod">
          <ac:chgData name="Zhengtao Gan" userId="bc97cd63-5d64-4c71-aced-8ad581b9e859" providerId="ADAL" clId="{2DEFB776-915C-4E62-805B-E50DEF042678}" dt="2025-12-23T04:55:44.770" v="4507" actId="20577"/>
          <ac:spMkLst>
            <pc:docMk/>
            <pc:sldMk cId="2757599380" sldId="274"/>
            <ac:spMk id="2" creationId="{1280261E-BC64-1746-39DB-5D5222462DAB}"/>
          </ac:spMkLst>
        </pc:spChg>
        <pc:spChg chg="mod">
          <ac:chgData name="Zhengtao Gan" userId="bc97cd63-5d64-4c71-aced-8ad581b9e859" providerId="ADAL" clId="{2DEFB776-915C-4E62-805B-E50DEF042678}" dt="2025-12-23T05:20:25.979" v="5006" actId="20577"/>
          <ac:spMkLst>
            <pc:docMk/>
            <pc:sldMk cId="2757599380" sldId="274"/>
            <ac:spMk id="3" creationId="{52E20A37-0494-B554-ABEA-9A6EE793CBA0}"/>
          </ac:spMkLst>
        </pc:spChg>
      </pc:sldChg>
      <pc:sldChg chg="addSp delSp modSp new mod setBg">
        <pc:chgData name="Zhengtao Gan" userId="bc97cd63-5d64-4c71-aced-8ad581b9e859" providerId="ADAL" clId="{2DEFB776-915C-4E62-805B-E50DEF042678}" dt="2025-12-24T19:17:03.692" v="5013" actId="26606"/>
        <pc:sldMkLst>
          <pc:docMk/>
          <pc:sldMk cId="3725878017" sldId="275"/>
        </pc:sldMkLst>
        <pc:spChg chg="add">
          <ac:chgData name="Zhengtao Gan" userId="bc97cd63-5d64-4c71-aced-8ad581b9e859" providerId="ADAL" clId="{2DEFB776-915C-4E62-805B-E50DEF042678}" dt="2025-12-24T19:17:03.692" v="5013" actId="26606"/>
          <ac:spMkLst>
            <pc:docMk/>
            <pc:sldMk cId="3725878017" sldId="275"/>
            <ac:spMk id="10" creationId="{42A4FC2C-047E-45A5-965D-8E1E3BF09BC6}"/>
          </ac:spMkLst>
        </pc:spChg>
        <pc:picChg chg="add mod">
          <ac:chgData name="Zhengtao Gan" userId="bc97cd63-5d64-4c71-aced-8ad581b9e859" providerId="ADAL" clId="{2DEFB776-915C-4E62-805B-E50DEF042678}" dt="2025-12-24T19:17:03.692" v="5013" actId="26606"/>
          <ac:picMkLst>
            <pc:docMk/>
            <pc:sldMk cId="3725878017" sldId="275"/>
            <ac:picMk id="5" creationId="{21300881-9714-3251-D59D-5054309822F6}"/>
          </ac:picMkLst>
        </pc:picChg>
      </pc:sldChg>
      <pc:sldChg chg="addSp delSp modSp new mod">
        <pc:chgData name="Zhengtao Gan" userId="bc97cd63-5d64-4c71-aced-8ad581b9e859" providerId="ADAL" clId="{2DEFB776-915C-4E62-805B-E50DEF042678}" dt="2025-12-26T21:36:54.770" v="5054" actId="14100"/>
        <pc:sldMkLst>
          <pc:docMk/>
          <pc:sldMk cId="2573515008" sldId="276"/>
        </pc:sldMkLst>
        <pc:spChg chg="mod">
          <ac:chgData name="Zhengtao Gan" userId="bc97cd63-5d64-4c71-aced-8ad581b9e859" providerId="ADAL" clId="{2DEFB776-915C-4E62-805B-E50DEF042678}" dt="2025-12-26T21:12:15.736" v="5047" actId="404"/>
          <ac:spMkLst>
            <pc:docMk/>
            <pc:sldMk cId="2573515008" sldId="276"/>
            <ac:spMk id="2" creationId="{06938843-848E-E868-D1A2-EF13227F4016}"/>
          </ac:spMkLst>
        </pc:spChg>
        <pc:picChg chg="add mod">
          <ac:chgData name="Zhengtao Gan" userId="bc97cd63-5d64-4c71-aced-8ad581b9e859" providerId="ADAL" clId="{2DEFB776-915C-4E62-805B-E50DEF042678}" dt="2025-12-26T21:36:54.770" v="5054" actId="14100"/>
          <ac:picMkLst>
            <pc:docMk/>
            <pc:sldMk cId="2573515008" sldId="276"/>
            <ac:picMk id="7" creationId="{0059A9E1-A048-A4ED-F322-9B49FEA6E3D0}"/>
          </ac:picMkLst>
        </pc:picChg>
      </pc:sldChg>
      <pc:sldChg chg="modSp new mod">
        <pc:chgData name="Zhengtao Gan" userId="bc97cd63-5d64-4c71-aced-8ad581b9e859" providerId="ADAL" clId="{2DEFB776-915C-4E62-805B-E50DEF042678}" dt="2025-12-29T01:49:08.106" v="5089" actId="115"/>
        <pc:sldMkLst>
          <pc:docMk/>
          <pc:sldMk cId="552679619" sldId="277"/>
        </pc:sldMkLst>
        <pc:spChg chg="mod">
          <ac:chgData name="Zhengtao Gan" userId="bc97cd63-5d64-4c71-aced-8ad581b9e859" providerId="ADAL" clId="{2DEFB776-915C-4E62-805B-E50DEF042678}" dt="2025-12-29T00:01:43.213" v="5064" actId="113"/>
          <ac:spMkLst>
            <pc:docMk/>
            <pc:sldMk cId="552679619" sldId="277"/>
            <ac:spMk id="2" creationId="{F94BE3A6-D901-6902-3C8D-5F3709CC630F}"/>
          </ac:spMkLst>
        </pc:spChg>
        <pc:spChg chg="mod">
          <ac:chgData name="Zhengtao Gan" userId="bc97cd63-5d64-4c71-aced-8ad581b9e859" providerId="ADAL" clId="{2DEFB776-915C-4E62-805B-E50DEF042678}" dt="2025-12-29T01:49:08.106" v="5089" actId="115"/>
          <ac:spMkLst>
            <pc:docMk/>
            <pc:sldMk cId="552679619" sldId="277"/>
            <ac:spMk id="3" creationId="{1EB4EC70-ECD5-A16E-39A3-FA52B9D078EB}"/>
          </ac:spMkLst>
        </pc:spChg>
      </pc:sldChg>
      <pc:sldChg chg="modSp new mod">
        <pc:chgData name="Zhengtao Gan" userId="bc97cd63-5d64-4c71-aced-8ad581b9e859" providerId="ADAL" clId="{2DEFB776-915C-4E62-805B-E50DEF042678}" dt="2025-12-29T02:17:23.802" v="5095" actId="13926"/>
        <pc:sldMkLst>
          <pc:docMk/>
          <pc:sldMk cId="3810692535" sldId="278"/>
        </pc:sldMkLst>
        <pc:spChg chg="mod">
          <ac:chgData name="Zhengtao Gan" userId="bc97cd63-5d64-4c71-aced-8ad581b9e859" providerId="ADAL" clId="{2DEFB776-915C-4E62-805B-E50DEF042678}" dt="2025-12-29T02:17:23.802" v="5095" actId="13926"/>
          <ac:spMkLst>
            <pc:docMk/>
            <pc:sldMk cId="3810692535" sldId="278"/>
            <ac:spMk id="2" creationId="{D1515DE4-7C9A-D295-0912-E3988CD7AC88}"/>
          </ac:spMkLst>
        </pc:spChg>
        <pc:spChg chg="mod">
          <ac:chgData name="Zhengtao Gan" userId="bc97cd63-5d64-4c71-aced-8ad581b9e859" providerId="ADAL" clId="{2DEFB776-915C-4E62-805B-E50DEF042678}" dt="2025-12-29T02:17:19.123" v="5092"/>
          <ac:spMkLst>
            <pc:docMk/>
            <pc:sldMk cId="3810692535" sldId="278"/>
            <ac:spMk id="3" creationId="{60ED0004-BF70-F374-C4BA-49D34CA01185}"/>
          </ac:spMkLst>
        </pc:spChg>
      </pc:sldChg>
      <pc:sldChg chg="modSp new mod">
        <pc:chgData name="Zhengtao Gan" userId="bc97cd63-5d64-4c71-aced-8ad581b9e859" providerId="ADAL" clId="{2DEFB776-915C-4E62-805B-E50DEF042678}" dt="2025-12-29T02:29:21.498" v="5115" actId="207"/>
        <pc:sldMkLst>
          <pc:docMk/>
          <pc:sldMk cId="2808673039" sldId="279"/>
        </pc:sldMkLst>
        <pc:spChg chg="mod">
          <ac:chgData name="Zhengtao Gan" userId="bc97cd63-5d64-4c71-aced-8ad581b9e859" providerId="ADAL" clId="{2DEFB776-915C-4E62-805B-E50DEF042678}" dt="2025-12-29T02:29:21.498" v="5115" actId="207"/>
          <ac:spMkLst>
            <pc:docMk/>
            <pc:sldMk cId="2808673039" sldId="279"/>
            <ac:spMk id="3" creationId="{F1B4B02B-2FF4-090C-FB7F-DFDB2721E194}"/>
          </ac:spMkLst>
        </pc:spChg>
      </pc:sldChg>
      <pc:sldChg chg="modSp new mod">
        <pc:chgData name="Zhengtao Gan" userId="bc97cd63-5d64-4c71-aced-8ad581b9e859" providerId="ADAL" clId="{2DEFB776-915C-4E62-805B-E50DEF042678}" dt="2025-12-29T08:02:20.220" v="5171" actId="207"/>
        <pc:sldMkLst>
          <pc:docMk/>
          <pc:sldMk cId="1712279233" sldId="280"/>
        </pc:sldMkLst>
        <pc:spChg chg="mod">
          <ac:chgData name="Zhengtao Gan" userId="bc97cd63-5d64-4c71-aced-8ad581b9e859" providerId="ADAL" clId="{2DEFB776-915C-4E62-805B-E50DEF042678}" dt="2025-12-29T07:14:16.621" v="5123" actId="13926"/>
          <ac:spMkLst>
            <pc:docMk/>
            <pc:sldMk cId="1712279233" sldId="280"/>
            <ac:spMk id="2" creationId="{00D46A0C-5712-5FAE-593B-F8E408EC91D8}"/>
          </ac:spMkLst>
        </pc:spChg>
        <pc:spChg chg="mod">
          <ac:chgData name="Zhengtao Gan" userId="bc97cd63-5d64-4c71-aced-8ad581b9e859" providerId="ADAL" clId="{2DEFB776-915C-4E62-805B-E50DEF042678}" dt="2025-12-29T08:02:20.220" v="5171" actId="207"/>
          <ac:spMkLst>
            <pc:docMk/>
            <pc:sldMk cId="1712279233" sldId="280"/>
            <ac:spMk id="3" creationId="{FB755225-4B2C-7E70-2EB9-61495E5F7BE2}"/>
          </ac:spMkLst>
        </pc:spChg>
      </pc:sldChg>
      <pc:sldChg chg="addSp delSp modSp new mod">
        <pc:chgData name="Zhengtao Gan" userId="bc97cd63-5d64-4c71-aced-8ad581b9e859" providerId="ADAL" clId="{2DEFB776-915C-4E62-805B-E50DEF042678}" dt="2025-12-29T09:07:47.155" v="5205" actId="1076"/>
        <pc:sldMkLst>
          <pc:docMk/>
          <pc:sldMk cId="2420400878" sldId="281"/>
        </pc:sldMkLst>
        <pc:spChg chg="mod">
          <ac:chgData name="Zhengtao Gan" userId="bc97cd63-5d64-4c71-aced-8ad581b9e859" providerId="ADAL" clId="{2DEFB776-915C-4E62-805B-E50DEF042678}" dt="2025-12-29T09:07:19.721" v="5204" actId="113"/>
          <ac:spMkLst>
            <pc:docMk/>
            <pc:sldMk cId="2420400878" sldId="281"/>
            <ac:spMk id="2" creationId="{8ED4DE79-8184-CD58-2075-F8F54A771A6D}"/>
          </ac:spMkLst>
        </pc:spChg>
        <pc:spChg chg="del">
          <ac:chgData name="Zhengtao Gan" userId="bc97cd63-5d64-4c71-aced-8ad581b9e859" providerId="ADAL" clId="{2DEFB776-915C-4E62-805B-E50DEF042678}" dt="2025-12-29T09:06:53.745" v="5173"/>
          <ac:spMkLst>
            <pc:docMk/>
            <pc:sldMk cId="2420400878" sldId="281"/>
            <ac:spMk id="3" creationId="{18D64FC4-F370-62C2-2655-80DCAEC44FE9}"/>
          </ac:spMkLst>
        </pc:spChg>
        <pc:picChg chg="add mod">
          <ac:chgData name="Zhengtao Gan" userId="bc97cd63-5d64-4c71-aced-8ad581b9e859" providerId="ADAL" clId="{2DEFB776-915C-4E62-805B-E50DEF042678}" dt="2025-12-29T09:07:47.155" v="5205" actId="1076"/>
          <ac:picMkLst>
            <pc:docMk/>
            <pc:sldMk cId="2420400878" sldId="281"/>
            <ac:picMk id="5" creationId="{4559DADC-21D4-67DF-05A6-E0A3186D16A1}"/>
          </ac:picMkLst>
        </pc:picChg>
      </pc:sldChg>
      <pc:sldChg chg="addSp delSp modSp new mod">
        <pc:chgData name="Zhengtao Gan" userId="bc97cd63-5d64-4c71-aced-8ad581b9e859" providerId="ADAL" clId="{2DEFB776-915C-4E62-805B-E50DEF042678}" dt="2025-12-30T06:16:12.190" v="5211" actId="14100"/>
        <pc:sldMkLst>
          <pc:docMk/>
          <pc:sldMk cId="830844041" sldId="282"/>
        </pc:sldMkLst>
        <pc:spChg chg="del">
          <ac:chgData name="Zhengtao Gan" userId="bc97cd63-5d64-4c71-aced-8ad581b9e859" providerId="ADAL" clId="{2DEFB776-915C-4E62-805B-E50DEF042678}" dt="2025-12-30T06:16:06.990" v="5207"/>
          <ac:spMkLst>
            <pc:docMk/>
            <pc:sldMk cId="830844041" sldId="282"/>
            <ac:spMk id="3" creationId="{8F2532E1-35B5-C148-E853-D7D9F6BDA0A6}"/>
          </ac:spMkLst>
        </pc:spChg>
        <pc:picChg chg="add mod">
          <ac:chgData name="Zhengtao Gan" userId="bc97cd63-5d64-4c71-aced-8ad581b9e859" providerId="ADAL" clId="{2DEFB776-915C-4E62-805B-E50DEF042678}" dt="2025-12-30T06:16:12.190" v="5211" actId="14100"/>
          <ac:picMkLst>
            <pc:docMk/>
            <pc:sldMk cId="830844041" sldId="282"/>
            <ac:picMk id="5" creationId="{1075599B-5D1B-E4D5-25C8-381C1260A1B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11283-8DB9-54E7-44BF-041A728630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278291-0C7D-2CAD-6048-8A28FD8B2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A0400D-7638-50ED-A57B-2EFFFADE00F2}"/>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DE6B46F1-E2B3-CE27-0323-388121141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107AE-83CC-D1DF-E851-160E0E0DFC0E}"/>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659682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320C-A7FB-349F-7F88-BC582A5A39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1BAA2B-9EED-57CB-EAEC-3618BC4E8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606B7C-00DE-F200-C139-547BC09BBC8D}"/>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BBC04C62-A500-0FFB-FB39-65763F6D8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DBA3E-1307-0B10-D8B9-DC27B4EE3996}"/>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35379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14-E877-C789-AD8D-9E84B2607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68F32D-F617-F2B6-943B-467D866492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C5B66A-BA99-1D88-6CAB-A0FA55EFB982}"/>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7EE07332-2763-53B4-3820-217B4072CC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95A20-5CD2-FAB9-10FE-26F1D1A6F6E1}"/>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9442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A257-1D80-2EAB-3D96-F8F536DEB9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25FEE1-0964-098E-5ADE-46603945F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C9A911-6545-28DB-9C13-232A831EE6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C9C53-7B9B-08A1-8202-D9323829925C}"/>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6" name="Footer Placeholder 5">
            <a:extLst>
              <a:ext uri="{FF2B5EF4-FFF2-40B4-BE49-F238E27FC236}">
                <a16:creationId xmlns:a16="http://schemas.microsoft.com/office/drawing/2014/main" id="{C9F3C4E5-A1A1-7D6B-02A3-C35329C2B5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21826F-08F2-51F0-35BD-176F4474519D}"/>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3971973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D4281-A697-8A76-F843-C09DD0119F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0F61D-806A-FD1D-5335-A612C39247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07D8EE-9891-56E0-FE57-05CBE063C3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671FC7-4323-81FB-1293-9008F35E2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AEBEB-8DBC-1980-6504-598302E160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D36197-BB64-FDF0-0E2B-1C85677EB41D}"/>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8" name="Footer Placeholder 7">
            <a:extLst>
              <a:ext uri="{FF2B5EF4-FFF2-40B4-BE49-F238E27FC236}">
                <a16:creationId xmlns:a16="http://schemas.microsoft.com/office/drawing/2014/main" id="{7FA7B0B9-58A5-A794-64D4-5DF3EB7A89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33EDD9-E053-AAC8-E804-E8A9375068E3}"/>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709489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C35B-5E2C-4A80-2CEB-C8D6B78AC4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01FB65-7840-4257-B7D5-B3A72904E765}"/>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4" name="Footer Placeholder 3">
            <a:extLst>
              <a:ext uri="{FF2B5EF4-FFF2-40B4-BE49-F238E27FC236}">
                <a16:creationId xmlns:a16="http://schemas.microsoft.com/office/drawing/2014/main" id="{D8A2958E-BD56-034F-6251-87537AFB69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19D081-B8FE-C9D9-8C51-0AC51050DB0D}"/>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1939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A5262-0A71-EA75-C65B-B92DE95DCED8}"/>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3" name="Footer Placeholder 2">
            <a:extLst>
              <a:ext uri="{FF2B5EF4-FFF2-40B4-BE49-F238E27FC236}">
                <a16:creationId xmlns:a16="http://schemas.microsoft.com/office/drawing/2014/main" id="{E4F9B98F-12EA-3525-560D-8387BE2BE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91D3EF-A657-7CCC-39EE-48125C43214B}"/>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539462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1AF2-CA05-7CFE-F3A1-4DE47E26EC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3BCBB2-7920-4899-2C12-901726F4C0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0171E0-3D73-0F77-CB60-CE10B56A9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1FFBC-1237-0D75-81E6-F0F373F99453}"/>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6" name="Footer Placeholder 5">
            <a:extLst>
              <a:ext uri="{FF2B5EF4-FFF2-40B4-BE49-F238E27FC236}">
                <a16:creationId xmlns:a16="http://schemas.microsoft.com/office/drawing/2014/main" id="{12AAAB17-3055-0158-00B3-396ECF0B3A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C5F5-9098-ECD8-BB2D-390F98E8EC30}"/>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61639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DC36-FD6F-BF45-7266-33E801724E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40C94B-F30E-620A-7023-2102F6D5BA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A4463C-5A28-22C4-7C24-0EFE3C061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18A716-D380-4222-EE76-F8E7668117D6}"/>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6" name="Footer Placeholder 5">
            <a:extLst>
              <a:ext uri="{FF2B5EF4-FFF2-40B4-BE49-F238E27FC236}">
                <a16:creationId xmlns:a16="http://schemas.microsoft.com/office/drawing/2014/main" id="{6818AEC3-EA6D-A70A-0FBA-B16C00B10C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C37859-7F70-9C3A-9FCA-A61D9AFA63D8}"/>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914933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A24B7-F2E6-1F35-48D8-07DBFC0F0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70DFAE-44E8-32B1-30F0-956A51ABC2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FB6409-C52C-E620-F0E1-79A1F75FD28C}"/>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733F3B9A-0742-17EC-ECAD-6F8E965B7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49FBF-7337-A6DD-7F45-C8844503A5A3}"/>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380823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1A555-CC94-BC3A-F8F9-C10BC4167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B518F8-D501-F369-77DE-42B076AB64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800F0-9711-4846-9AD3-698C135D5C73}"/>
              </a:ext>
            </a:extLst>
          </p:cNvPr>
          <p:cNvSpPr>
            <a:spLocks noGrp="1"/>
          </p:cNvSpPr>
          <p:nvPr>
            <p:ph type="dt" sz="half" idx="10"/>
          </p:nvPr>
        </p:nvSpPr>
        <p:spPr/>
        <p:txBody>
          <a:body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B788D448-EF4F-9089-A8A2-1AF3E8AFB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F325E-E1B5-9E9F-35E6-CCC7E39D993F}"/>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193716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BA596-3388-B28B-5B87-90DB94C02B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5FF587-C324-6A08-21B1-8B24E798FC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27A66-B882-F693-7D5A-48CA78D04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B13FC0-E79F-4029-8256-C729BE555CBF}" type="datetimeFigureOut">
              <a:rPr lang="en-US" smtClean="0"/>
              <a:t>12/21/2025</a:t>
            </a:fld>
            <a:endParaRPr lang="en-US"/>
          </a:p>
        </p:txBody>
      </p:sp>
      <p:sp>
        <p:nvSpPr>
          <p:cNvPr id="5" name="Footer Placeholder 4">
            <a:extLst>
              <a:ext uri="{FF2B5EF4-FFF2-40B4-BE49-F238E27FC236}">
                <a16:creationId xmlns:a16="http://schemas.microsoft.com/office/drawing/2014/main" id="{32A801DF-F1F7-E05B-39B2-BA3BCE895C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5588F4-08E2-9ED5-D5C9-319FE039D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4B670E-A2FD-4323-9556-99EFBBE7916C}" type="slidenum">
              <a:rPr lang="en-US" smtClean="0"/>
              <a:t>‹#›</a:t>
            </a:fld>
            <a:endParaRPr lang="en-US"/>
          </a:p>
        </p:txBody>
      </p:sp>
    </p:spTree>
    <p:extLst>
      <p:ext uri="{BB962C8B-B14F-4D97-AF65-F5344CB8AC3E}">
        <p14:creationId xmlns:p14="http://schemas.microsoft.com/office/powerpoint/2010/main" val="891880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54FF-4C62-169E-EA15-0AC43A90116A}"/>
              </a:ext>
            </a:extLst>
          </p:cNvPr>
          <p:cNvSpPr>
            <a:spLocks noGrp="1"/>
          </p:cNvSpPr>
          <p:nvPr>
            <p:ph type="title"/>
          </p:nvPr>
        </p:nvSpPr>
        <p:spPr/>
        <p:txBody>
          <a:bodyPr/>
          <a:lstStyle/>
          <a:p>
            <a:r>
              <a:rPr lang="en-US" dirty="0"/>
              <a:t>Physics from symmetry</a:t>
            </a:r>
          </a:p>
        </p:txBody>
      </p:sp>
      <p:sp>
        <p:nvSpPr>
          <p:cNvPr id="3" name="Content Placeholder 2">
            <a:extLst>
              <a:ext uri="{FF2B5EF4-FFF2-40B4-BE49-F238E27FC236}">
                <a16:creationId xmlns:a16="http://schemas.microsoft.com/office/drawing/2014/main" id="{3854FB18-AAB8-6ED5-0746-FA97767AF6B3}"/>
              </a:ext>
            </a:extLst>
          </p:cNvPr>
          <p:cNvSpPr>
            <a:spLocks noGrp="1"/>
          </p:cNvSpPr>
          <p:nvPr>
            <p:ph idx="1"/>
          </p:nvPr>
        </p:nvSpPr>
        <p:spPr>
          <a:xfrm>
            <a:off x="838200" y="1815465"/>
            <a:ext cx="10515600" cy="4351338"/>
          </a:xfrm>
        </p:spPr>
        <p:txBody>
          <a:bodyPr/>
          <a:lstStyle/>
          <a:p>
            <a:r>
              <a:rPr lang="en-US" dirty="0"/>
              <a:t>As far as I see, all a priori statements in physics have their origin in symmetry – Hermann Weyl</a:t>
            </a:r>
          </a:p>
          <a:p>
            <a:r>
              <a:rPr lang="en-US" dirty="0"/>
              <a:t>The truth always turns out to be simpler than you thought – Richard P. Feynman</a:t>
            </a:r>
          </a:p>
          <a:p>
            <a:r>
              <a:rPr lang="en-US" dirty="0"/>
              <a:t>The most beautiful thing in physics is when something incomprehensible, suddenly becomes comprehensible, because of a deep explanation. </a:t>
            </a:r>
          </a:p>
          <a:p>
            <a:r>
              <a:rPr lang="en-US" dirty="0"/>
              <a:t>There is presently NO theory that is able to derive the constants of nature. These constants need to be extracted from experiments </a:t>
            </a:r>
          </a:p>
        </p:txBody>
      </p:sp>
    </p:spTree>
    <p:extLst>
      <p:ext uri="{BB962C8B-B14F-4D97-AF65-F5344CB8AC3E}">
        <p14:creationId xmlns:p14="http://schemas.microsoft.com/office/powerpoint/2010/main" val="1210643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22B862-FF97-5297-45C1-B904ADA11AAE}"/>
              </a:ext>
            </a:extLst>
          </p:cNvPr>
          <p:cNvSpPr>
            <a:spLocks noGrp="1"/>
          </p:cNvSpPr>
          <p:nvPr>
            <p:ph idx="1"/>
          </p:nvPr>
        </p:nvSpPr>
        <p:spPr>
          <a:xfrm>
            <a:off x="838200" y="579120"/>
            <a:ext cx="10515600" cy="6096000"/>
          </a:xfrm>
        </p:spPr>
        <p:txBody>
          <a:bodyPr>
            <a:normAutofit lnSpcReduction="10000"/>
          </a:bodyPr>
          <a:lstStyle/>
          <a:p>
            <a:r>
              <a:rPr lang="en-US" altLang="zh-CN" b="1" dirty="0"/>
              <a:t>Special relativity</a:t>
            </a:r>
            <a:r>
              <a:rPr lang="en-US" altLang="zh-CN" dirty="0"/>
              <a:t>: the velocity of light has the same value in all inertial frames of reference, which are frames moving with constant velocity relative to each other and physics is the same in all inertial frames of reference. </a:t>
            </a:r>
          </a:p>
          <a:p>
            <a:r>
              <a:rPr lang="en-US" dirty="0"/>
              <a:t>The set of all transformations permitted by these </a:t>
            </a:r>
            <a:r>
              <a:rPr lang="en-US" b="1" dirty="0"/>
              <a:t>symmetry constrains</a:t>
            </a:r>
            <a:r>
              <a:rPr lang="en-US" dirty="0"/>
              <a:t> is called the </a:t>
            </a:r>
            <a:r>
              <a:rPr lang="en-US" b="1" dirty="0" err="1"/>
              <a:t>Poincaré</a:t>
            </a:r>
            <a:r>
              <a:rPr lang="en-US" b="1" dirty="0"/>
              <a:t> group</a:t>
            </a:r>
            <a:r>
              <a:rPr lang="en-US" dirty="0"/>
              <a:t>.</a:t>
            </a:r>
          </a:p>
          <a:p>
            <a:r>
              <a:rPr lang="en-US" b="1" dirty="0" err="1"/>
              <a:t>Lagrangian</a:t>
            </a:r>
            <a:r>
              <a:rPr lang="en-US" dirty="0"/>
              <a:t> must be invariant (= does not change) under any transformation of the </a:t>
            </a:r>
            <a:r>
              <a:rPr lang="en-US" b="1" dirty="0" err="1"/>
              <a:t>Poincaré</a:t>
            </a:r>
            <a:r>
              <a:rPr lang="en-US" b="1" dirty="0"/>
              <a:t> group</a:t>
            </a:r>
          </a:p>
          <a:p>
            <a:r>
              <a:rPr lang="en-US" b="1" dirty="0"/>
              <a:t>Symmetry breaking </a:t>
            </a:r>
            <a:r>
              <a:rPr lang="en-US" dirty="0"/>
              <a:t>and a special way to break symmetries called the </a:t>
            </a:r>
            <a:r>
              <a:rPr lang="en-US" b="1" dirty="0"/>
              <a:t>Higgs mechanism</a:t>
            </a:r>
            <a:r>
              <a:rPr lang="en-US" dirty="0"/>
              <a:t>, which enables us to describe particles with </a:t>
            </a:r>
            <a:r>
              <a:rPr lang="en-US" b="1" dirty="0"/>
              <a:t>mass</a:t>
            </a:r>
            <a:r>
              <a:rPr lang="en-US" dirty="0"/>
              <a:t>. </a:t>
            </a:r>
          </a:p>
          <a:p>
            <a:r>
              <a:rPr lang="en-US" b="1" dirty="0"/>
              <a:t>Noether’s theorem </a:t>
            </a:r>
            <a:r>
              <a:rPr lang="en-US" dirty="0"/>
              <a:t>reveals a deep connection between </a:t>
            </a:r>
            <a:r>
              <a:rPr lang="en-US" b="1" dirty="0"/>
              <a:t>symmetries </a:t>
            </a:r>
            <a:r>
              <a:rPr lang="en-US" dirty="0"/>
              <a:t>and </a:t>
            </a:r>
            <a:r>
              <a:rPr lang="en-US" b="1" dirty="0"/>
              <a:t>conserved quantities</a:t>
            </a:r>
            <a:r>
              <a:rPr lang="en-US" dirty="0"/>
              <a:t>. </a:t>
            </a:r>
          </a:p>
          <a:p>
            <a:r>
              <a:rPr lang="en-US" dirty="0"/>
              <a:t>The </a:t>
            </a:r>
            <a:r>
              <a:rPr lang="en-US" b="1" dirty="0"/>
              <a:t>standard model </a:t>
            </a:r>
            <a:r>
              <a:rPr lang="en-US" dirty="0"/>
              <a:t>uses </a:t>
            </a:r>
            <a:r>
              <a:rPr lang="en-US" b="1" dirty="0"/>
              <a:t>quantum field theory </a:t>
            </a:r>
            <a:r>
              <a:rPr lang="en-US" dirty="0"/>
              <a:t>to describe the behavior of all known </a:t>
            </a:r>
            <a:r>
              <a:rPr lang="en-US" b="1" dirty="0"/>
              <a:t>elementary particles</a:t>
            </a:r>
            <a:r>
              <a:rPr lang="en-US" dirty="0"/>
              <a:t>. </a:t>
            </a:r>
          </a:p>
        </p:txBody>
      </p:sp>
    </p:spTree>
    <p:extLst>
      <p:ext uri="{BB962C8B-B14F-4D97-AF65-F5344CB8AC3E}">
        <p14:creationId xmlns:p14="http://schemas.microsoft.com/office/powerpoint/2010/main" val="2470520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41870-AED4-29E1-3071-CEC7088AA6E5}"/>
              </a:ext>
            </a:extLst>
          </p:cNvPr>
          <p:cNvSpPr>
            <a:spLocks noGrp="1"/>
          </p:cNvSpPr>
          <p:nvPr>
            <p:ph type="title"/>
          </p:nvPr>
        </p:nvSpPr>
        <p:spPr/>
        <p:txBody>
          <a:bodyPr/>
          <a:lstStyle/>
          <a:p>
            <a:r>
              <a:rPr lang="en-US" dirty="0"/>
              <a:t>Elementary Particles</a:t>
            </a:r>
          </a:p>
        </p:txBody>
      </p:sp>
      <p:sp>
        <p:nvSpPr>
          <p:cNvPr id="3" name="Content Placeholder 2">
            <a:extLst>
              <a:ext uri="{FF2B5EF4-FFF2-40B4-BE49-F238E27FC236}">
                <a16:creationId xmlns:a16="http://schemas.microsoft.com/office/drawing/2014/main" id="{9720FBCA-6669-332E-E2D3-0C0878DB3120}"/>
              </a:ext>
            </a:extLst>
          </p:cNvPr>
          <p:cNvSpPr>
            <a:spLocks noGrp="1"/>
          </p:cNvSpPr>
          <p:nvPr>
            <p:ph idx="1"/>
          </p:nvPr>
        </p:nvSpPr>
        <p:spPr>
          <a:xfrm>
            <a:off x="378460" y="1530985"/>
            <a:ext cx="11435080" cy="4351338"/>
          </a:xfrm>
        </p:spPr>
        <p:txBody>
          <a:bodyPr>
            <a:normAutofit fontScale="92500"/>
          </a:bodyPr>
          <a:lstStyle/>
          <a:p>
            <a:r>
              <a:rPr lang="en-US" sz="3200" b="1" dirty="0"/>
              <a:t>Bosons </a:t>
            </a:r>
            <a:r>
              <a:rPr lang="en-US" sz="3200" dirty="0"/>
              <a:t>(integer spin, mostly 1)</a:t>
            </a:r>
          </a:p>
          <a:p>
            <a:pPr lvl="1"/>
            <a:r>
              <a:rPr lang="en-US" dirty="0"/>
              <a:t>For the forces of nature</a:t>
            </a:r>
          </a:p>
          <a:p>
            <a:pPr lvl="1"/>
            <a:r>
              <a:rPr lang="en-US" dirty="0"/>
              <a:t>1. Electromagnetic interactions – massless </a:t>
            </a:r>
            <a:r>
              <a:rPr lang="en-US" b="1" dirty="0"/>
              <a:t>photons – need charge: electric charge</a:t>
            </a:r>
          </a:p>
          <a:p>
            <a:pPr lvl="1"/>
            <a:r>
              <a:rPr lang="en-US" dirty="0"/>
              <a:t>2. Weak force – massive </a:t>
            </a:r>
            <a:r>
              <a:rPr lang="en-US" b="1" dirty="0"/>
              <a:t>W+, W-, Z- bosons – need charge: isospin (all fermions have )</a:t>
            </a:r>
          </a:p>
          <a:p>
            <a:pPr lvl="1"/>
            <a:r>
              <a:rPr lang="en-US" dirty="0"/>
              <a:t>3. Strong force – massless </a:t>
            </a:r>
            <a:r>
              <a:rPr lang="en-US" b="1" dirty="0"/>
              <a:t>gluons – need charge: color</a:t>
            </a:r>
          </a:p>
          <a:p>
            <a:pPr lvl="1"/>
            <a:r>
              <a:rPr lang="en-US" dirty="0"/>
              <a:t>4. Gravity – (maybe) </a:t>
            </a:r>
            <a:r>
              <a:rPr lang="en-US" b="1" dirty="0"/>
              <a:t>gravitons</a:t>
            </a:r>
          </a:p>
          <a:p>
            <a:pPr lvl="1"/>
            <a:r>
              <a:rPr lang="en-US" b="1" dirty="0"/>
              <a:t>Higgs boson (spin 0)</a:t>
            </a:r>
          </a:p>
          <a:p>
            <a:r>
              <a:rPr lang="en-US" sz="3200" b="1" dirty="0"/>
              <a:t>Fermions</a:t>
            </a:r>
            <a:r>
              <a:rPr lang="en-US" dirty="0"/>
              <a:t> (half-integer spin)– Pauli’s exclusion principle</a:t>
            </a:r>
          </a:p>
          <a:p>
            <a:pPr lvl="1"/>
            <a:r>
              <a:rPr lang="en-US" dirty="0"/>
              <a:t>Responsible for matter</a:t>
            </a:r>
          </a:p>
          <a:p>
            <a:pPr lvl="1"/>
            <a:r>
              <a:rPr lang="en-US" dirty="0"/>
              <a:t>Atoms consist of </a:t>
            </a:r>
            <a:r>
              <a:rPr lang="en-US" b="1" dirty="0"/>
              <a:t>electrons (are leptons)</a:t>
            </a:r>
            <a:r>
              <a:rPr lang="en-US" dirty="0"/>
              <a:t>, </a:t>
            </a:r>
            <a:r>
              <a:rPr lang="en-US" b="1" dirty="0"/>
              <a:t>protons (consist of quarks)</a:t>
            </a:r>
            <a:r>
              <a:rPr lang="en-US" dirty="0"/>
              <a:t>, and </a:t>
            </a:r>
            <a:r>
              <a:rPr lang="en-US" b="1" dirty="0"/>
              <a:t>neutrons (consist of quarks)</a:t>
            </a:r>
            <a:r>
              <a:rPr lang="en-US" dirty="0"/>
              <a:t> (all fermions)</a:t>
            </a:r>
          </a:p>
        </p:txBody>
      </p:sp>
    </p:spTree>
    <p:extLst>
      <p:ext uri="{BB962C8B-B14F-4D97-AF65-F5344CB8AC3E}">
        <p14:creationId xmlns:p14="http://schemas.microsoft.com/office/powerpoint/2010/main" val="228338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F9C1-77E0-8BF8-398F-EE52DA2D062E}"/>
              </a:ext>
            </a:extLst>
          </p:cNvPr>
          <p:cNvSpPr>
            <a:spLocks noGrp="1"/>
          </p:cNvSpPr>
          <p:nvPr>
            <p:ph type="title"/>
          </p:nvPr>
        </p:nvSpPr>
        <p:spPr>
          <a:xfrm>
            <a:off x="838200" y="365125"/>
            <a:ext cx="10515600" cy="569595"/>
          </a:xfrm>
        </p:spPr>
        <p:txBody>
          <a:bodyPr>
            <a:normAutofit fontScale="90000"/>
          </a:bodyPr>
          <a:lstStyle/>
          <a:p>
            <a:r>
              <a:rPr lang="en-US" dirty="0"/>
              <a:t>2. Special relativity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1132C6-8B38-2FB1-BF33-35395CAE643C}"/>
                  </a:ext>
                </a:extLst>
              </p:cNvPr>
              <p:cNvSpPr>
                <a:spLocks noGrp="1"/>
              </p:cNvSpPr>
              <p:nvPr>
                <p:ph idx="1"/>
              </p:nvPr>
            </p:nvSpPr>
            <p:spPr>
              <a:xfrm>
                <a:off x="838200" y="1076960"/>
                <a:ext cx="10515600" cy="5130483"/>
              </a:xfrm>
            </p:spPr>
            <p:txBody>
              <a:bodyPr>
                <a:normAutofit fontScale="92500" lnSpcReduction="10000"/>
              </a:bodyPr>
              <a:lstStyle/>
              <a:p>
                <a:r>
                  <a:rPr lang="en-US" dirty="0"/>
                  <a:t>The famous Michelson-Morley experiment discovered that the speed of light has the same value in all reference frames. </a:t>
                </a:r>
              </a:p>
              <a:p>
                <a:r>
                  <a:rPr lang="en-US" b="1" dirty="0"/>
                  <a:t>The principle of relativity</a:t>
                </a:r>
                <a:r>
                  <a:rPr lang="en-US" dirty="0"/>
                  <a:t>: physics is the same in all inertial frames of reference, i.e., frames moving with constant velocity relative to each other. </a:t>
                </a:r>
              </a:p>
              <a:p>
                <a:r>
                  <a:rPr lang="en-US" b="1" dirty="0"/>
                  <a:t>The invariance of the speed of light</a:t>
                </a:r>
                <a:r>
                  <a:rPr lang="en-US" dirty="0"/>
                  <a:t>: the velocity of light has the same value in all inertial frames of reference</a:t>
                </a:r>
              </a:p>
              <a:p>
                <a:r>
                  <a:rPr lang="en-US" b="1" dirty="0"/>
                  <a:t>Physical laws are homogeneous </a:t>
                </a:r>
                <a:r>
                  <a:rPr lang="en-US" dirty="0"/>
                  <a:t>(not matter where) and </a:t>
                </a:r>
                <a:r>
                  <a:rPr lang="en-US" b="1" dirty="0"/>
                  <a:t>isotropic</a:t>
                </a:r>
                <a:r>
                  <a:rPr lang="en-US" dirty="0"/>
                  <a:t> (not matter how it is oriented)</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m:t>
                            </m:r>
                            <m:r>
                              <a:rPr lang="en-US" b="0" i="1" smtClean="0">
                                <a:latin typeface="Cambria Math" panose="02040503050406030204" pitchFamily="18" charset="0"/>
                                <a:ea typeface="Cambria Math" panose="02040503050406030204" pitchFamily="18" charset="0"/>
                              </a:rPr>
                              <m:t>𝜏</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𝑐𝑑𝑡</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𝑑𝑥</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𝑑𝑦</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𝑑𝑧</m:t>
                            </m:r>
                          </m:e>
                        </m:d>
                      </m:e>
                      <m:sup>
                        <m:r>
                          <a:rPr lang="en-US" b="0" i="1" smtClean="0">
                            <a:latin typeface="Cambria Math" panose="02040503050406030204" pitchFamily="18" charset="0"/>
                          </a:rPr>
                          <m:t>2</m:t>
                        </m:r>
                      </m:sup>
                    </m:sSup>
                  </m:oMath>
                </a14:m>
                <a:endParaRPr lang="en-US" dirty="0"/>
              </a:p>
              <a:p>
                <a:r>
                  <a:rPr lang="en-US" dirty="0"/>
                  <a:t>Tau is the </a:t>
                </a:r>
                <a:r>
                  <a:rPr lang="en-US" b="1" dirty="0"/>
                  <a:t>proper time</a:t>
                </a:r>
                <a:r>
                  <a:rPr lang="en-US" dirty="0"/>
                  <a:t>, measured by the observer in the frame where the object is at rest.</a:t>
                </a:r>
              </a:p>
              <a:p>
                <a:r>
                  <a:rPr lang="en-US" b="1" dirty="0"/>
                  <a:t>Upper speed limit </a:t>
                </a:r>
                <a:r>
                  <a:rPr lang="en-US" dirty="0"/>
                  <a:t>c / </a:t>
                </a:r>
                <a:r>
                  <a:rPr lang="en-US" b="1" dirty="0"/>
                  <a:t>The Minkowski Notation</a:t>
                </a:r>
              </a:p>
            </p:txBody>
          </p:sp>
        </mc:Choice>
        <mc:Fallback xmlns="">
          <p:sp>
            <p:nvSpPr>
              <p:cNvPr id="3" name="Content Placeholder 2">
                <a:extLst>
                  <a:ext uri="{FF2B5EF4-FFF2-40B4-BE49-F238E27FC236}">
                    <a16:creationId xmlns:a16="http://schemas.microsoft.com/office/drawing/2014/main" id="{BC1132C6-8B38-2FB1-BF33-35395CAE643C}"/>
                  </a:ext>
                </a:extLst>
              </p:cNvPr>
              <p:cNvSpPr>
                <a:spLocks noGrp="1" noRot="1" noChangeAspect="1" noMove="1" noResize="1" noEditPoints="1" noAdjustHandles="1" noChangeArrowheads="1" noChangeShapeType="1" noTextEdit="1"/>
              </p:cNvSpPr>
              <p:nvPr>
                <p:ph idx="1"/>
              </p:nvPr>
            </p:nvSpPr>
            <p:spPr>
              <a:xfrm>
                <a:off x="838200" y="1076960"/>
                <a:ext cx="10515600" cy="5130483"/>
              </a:xfrm>
              <a:blipFill>
                <a:blip r:embed="rId2"/>
                <a:stretch>
                  <a:fillRect l="-928" t="-2497" r="-1217" b="-238"/>
                </a:stretch>
              </a:blipFill>
            </p:spPr>
            <p:txBody>
              <a:bodyPr/>
              <a:lstStyle/>
              <a:p>
                <a:r>
                  <a:rPr lang="en-US">
                    <a:noFill/>
                  </a:rPr>
                  <a:t> </a:t>
                </a:r>
              </a:p>
            </p:txBody>
          </p:sp>
        </mc:Fallback>
      </mc:AlternateContent>
    </p:spTree>
    <p:extLst>
      <p:ext uri="{BB962C8B-B14F-4D97-AF65-F5344CB8AC3E}">
        <p14:creationId xmlns:p14="http://schemas.microsoft.com/office/powerpoint/2010/main" val="791011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0B3F-3C51-B03D-34E7-456C17811111}"/>
              </a:ext>
            </a:extLst>
          </p:cNvPr>
          <p:cNvSpPr>
            <a:spLocks noGrp="1"/>
          </p:cNvSpPr>
          <p:nvPr>
            <p:ph type="title"/>
          </p:nvPr>
        </p:nvSpPr>
        <p:spPr/>
        <p:txBody>
          <a:bodyPr/>
          <a:lstStyle/>
          <a:p>
            <a:r>
              <a:rPr lang="en-US" dirty="0"/>
              <a:t>Special relativity to Minkowski notation to Lorenz transformations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099C06-4FF2-A068-24BD-6FBDC37F6D79}"/>
                  </a:ext>
                </a:extLst>
              </p:cNvPr>
              <p:cNvSpPr>
                <a:spLocks noGrp="1"/>
              </p:cNvSpPr>
              <p:nvPr>
                <p:ph idx="1"/>
              </p:nvPr>
            </p:nvSpPr>
            <p:spPr/>
            <p:txBody>
              <a:bodyPr>
                <a:normAutofit fontScale="92500" lnSpcReduction="10000"/>
              </a:bodyPr>
              <a:lstStyle/>
              <a:p>
                <a:r>
                  <a:rPr lang="en-US" dirty="0"/>
                  <a:t>If we respect special relativity ( i.e., c is constant for all frames of reference), for any frame of reference we have</a:t>
                </a:r>
              </a:p>
              <a:p>
                <a:pPr marL="0" indent="0">
                  <a:buNone/>
                </a:pP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m:t>
                            </m:r>
                            <m:r>
                              <a:rPr lang="en-US" b="0" i="1" smtClean="0">
                                <a:latin typeface="Cambria Math" panose="02040503050406030204" pitchFamily="18" charset="0"/>
                                <a:ea typeface="Cambria Math" panose="02040503050406030204" pitchFamily="18" charset="0"/>
                              </a:rPr>
                              <m:t>𝜏</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𝑐𝑑𝑡</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𝑑𝑥</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𝑑𝑦</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𝑑𝑧</m:t>
                            </m:r>
                          </m:e>
                        </m:d>
                      </m:e>
                      <m:sup>
                        <m:r>
                          <a:rPr lang="en-US" b="0" i="1" smtClean="0">
                            <a:latin typeface="Cambria Math" panose="02040503050406030204" pitchFamily="18" charset="0"/>
                          </a:rPr>
                          <m:t>2</m:t>
                        </m:r>
                      </m:sup>
                    </m:sSup>
                  </m:oMath>
                </a14:m>
                <a:endParaRPr lang="en-US" b="0" dirty="0"/>
              </a:p>
              <a:p>
                <a:r>
                  <a:rPr lang="en-US" dirty="0"/>
                  <a:t>Using Minkowski notation, we have  the Minkowski metric </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𝜈</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𝜂</m:t>
                        </m:r>
                      </m:e>
                      <m:sup>
                        <m:r>
                          <a:rPr lang="en-US" b="0" i="1" smtClean="0">
                            <a:latin typeface="Cambria Math" panose="02040503050406030204" pitchFamily="18" charset="0"/>
                            <a:ea typeface="Cambria Math" panose="02040503050406030204" pitchFamily="18" charset="0"/>
                          </a:rPr>
                          <m:t>𝜇𝜈</m:t>
                        </m:r>
                      </m:sup>
                    </m:sSup>
                  </m:oMath>
                </a14:m>
                <a:endParaRPr lang="en-US" b="0" dirty="0">
                  <a:ea typeface="Cambria Math" panose="02040503050406030204" pitchFamily="18" charset="0"/>
                </a:endParaRPr>
              </a:p>
              <a:p>
                <a:r>
                  <a:rPr lang="en-US" dirty="0"/>
                  <a:t>Lorentz transformations are a type of transformations (rotation + stretch/reflection) </a:t>
                </a:r>
                <a14:m>
                  <m:oMath xmlns:m="http://schemas.openxmlformats.org/officeDocument/2006/math">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r>
                          <a:rPr lang="en-US" b="0" i="1" smtClean="0">
                            <a:latin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Λ</m:t>
                        </m:r>
                      </m:e>
                      <m:sub>
                        <m:r>
                          <a:rPr lang="en-US" b="0" i="1" smtClean="0">
                            <a:latin typeface="Cambria Math" panose="02040503050406030204" pitchFamily="18" charset="0"/>
                            <a:ea typeface="Cambria Math" panose="02040503050406030204" pitchFamily="18" charset="0"/>
                          </a:rPr>
                          <m:t>𝜇</m:t>
                        </m:r>
                      </m:sub>
                      <m:sup>
                        <m:r>
                          <a:rPr lang="en-US" b="0" i="1" smtClean="0">
                            <a:latin typeface="Cambria Math" panose="02040503050406030204" pitchFamily="18" charset="0"/>
                            <a:ea typeface="Cambria Math" panose="02040503050406030204" pitchFamily="18" charset="0"/>
                          </a:rPr>
                          <m:t>𝜎</m:t>
                        </m:r>
                      </m:sup>
                    </m:sSubSup>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𝜎</m:t>
                        </m:r>
                      </m:sub>
                    </m:sSub>
                  </m:oMath>
                </a14:m>
                <a:r>
                  <a:rPr lang="en-US" dirty="0"/>
                  <a:t> that leave the scalar product of Minkowski spacetime invariant:</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r>
                              <a:rPr lang="en-US" b="0" i="1" smtClean="0">
                                <a:latin typeface="Cambria Math" panose="02040503050406030204" pitchFamily="18" charset="0"/>
                              </a:rPr>
                              <m:t>′</m:t>
                            </m:r>
                          </m:e>
                        </m:d>
                      </m:e>
                      <m:sup>
                        <m:r>
                          <a:rPr lang="en-US" b="0" i="1" smtClean="0">
                            <a:latin typeface="Cambria Math" panose="02040503050406030204" pitchFamily="18" charset="0"/>
                          </a:rPr>
                          <m:t>2</m:t>
                        </m:r>
                      </m:sup>
                    </m:sSup>
                  </m:oMath>
                </a14:m>
                <a:r>
                  <a:rPr lang="en-US" dirty="0"/>
                  <a:t> and we have</a:t>
                </a:r>
              </a:p>
              <a:p>
                <a14:m>
                  <m:oMath xmlns:m="http://schemas.openxmlformats.org/officeDocument/2006/math">
                    <m:r>
                      <a:rPr lang="en-US" b="0"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m:t>
                    </m:r>
                    <m:sSup>
                      <m:sSupPr>
                        <m:ctrlPr>
                          <a:rPr lang="el-GR"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Λ</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𝜂</m:t>
                    </m:r>
                    <m:r>
                      <m:rPr>
                        <m:sty m:val="p"/>
                      </m:rPr>
                      <a:rPr lang="el-GR" b="0" i="1" smtClean="0">
                        <a:latin typeface="Cambria Math" panose="02040503050406030204" pitchFamily="18" charset="0"/>
                        <a:ea typeface="Cambria Math" panose="02040503050406030204" pitchFamily="18" charset="0"/>
                      </a:rPr>
                      <m:t>Λ</m:t>
                    </m:r>
                  </m:oMath>
                </a14:m>
                <a:endParaRPr lang="en-US" dirty="0"/>
              </a:p>
            </p:txBody>
          </p:sp>
        </mc:Choice>
        <mc:Fallback>
          <p:sp>
            <p:nvSpPr>
              <p:cNvPr id="3" name="Content Placeholder 2">
                <a:extLst>
                  <a:ext uri="{FF2B5EF4-FFF2-40B4-BE49-F238E27FC236}">
                    <a16:creationId xmlns:a16="http://schemas.microsoft.com/office/drawing/2014/main" id="{D1099C06-4FF2-A068-24BD-6FBDC37F6D79}"/>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1578907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3321F-6523-7F0C-C474-59593CF4991B}"/>
              </a:ext>
            </a:extLst>
          </p:cNvPr>
          <p:cNvSpPr>
            <a:spLocks noGrp="1"/>
          </p:cNvSpPr>
          <p:nvPr>
            <p:ph idx="1"/>
          </p:nvPr>
        </p:nvSpPr>
        <p:spPr>
          <a:xfrm>
            <a:off x="838198" y="406400"/>
            <a:ext cx="9863669" cy="5770563"/>
          </a:xfrm>
        </p:spPr>
        <p:txBody>
          <a:bodyPr>
            <a:normAutofit/>
          </a:bodyPr>
          <a:lstStyle/>
          <a:p>
            <a:r>
              <a:rPr lang="en-US" dirty="0"/>
              <a:t>We call something </a:t>
            </a:r>
            <a:r>
              <a:rPr lang="en-US" b="1" dirty="0"/>
              <a:t>invariant</a:t>
            </a:r>
            <a:r>
              <a:rPr lang="en-US" dirty="0"/>
              <a:t>, if it doesn’t change under transformations</a:t>
            </a:r>
          </a:p>
          <a:p>
            <a:r>
              <a:rPr lang="en-US" b="1" dirty="0"/>
              <a:t>Symmetry</a:t>
            </a:r>
            <a:r>
              <a:rPr lang="en-US" dirty="0"/>
              <a:t> is defined as invariance under a set of transformations</a:t>
            </a:r>
          </a:p>
          <a:p>
            <a:r>
              <a:rPr lang="en-US" b="1" dirty="0"/>
              <a:t>Covariance</a:t>
            </a:r>
            <a:r>
              <a:rPr lang="en-US" dirty="0"/>
              <a:t> means something takes the same </a:t>
            </a:r>
            <a:r>
              <a:rPr lang="en-US" b="1" dirty="0"/>
              <a:t>form</a:t>
            </a:r>
            <a:r>
              <a:rPr lang="en-US" dirty="0"/>
              <a:t> (but can have different parameters)</a:t>
            </a:r>
          </a:p>
          <a:p>
            <a:r>
              <a:rPr lang="en-US" b="1" dirty="0"/>
              <a:t>All physical laws must be </a:t>
            </a:r>
            <a:r>
              <a:rPr lang="en-US" b="1" i="1" dirty="0"/>
              <a:t>covariant </a:t>
            </a:r>
            <a:r>
              <a:rPr lang="en-US" b="1" dirty="0"/>
              <a:t>under Lorentz transformations</a:t>
            </a:r>
          </a:p>
        </p:txBody>
      </p:sp>
    </p:spTree>
    <p:extLst>
      <p:ext uri="{BB962C8B-B14F-4D97-AF65-F5344CB8AC3E}">
        <p14:creationId xmlns:p14="http://schemas.microsoft.com/office/powerpoint/2010/main" val="1752073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F11B-DD80-22AF-667B-441429C375B2}"/>
              </a:ext>
            </a:extLst>
          </p:cNvPr>
          <p:cNvSpPr>
            <a:spLocks noGrp="1"/>
          </p:cNvSpPr>
          <p:nvPr>
            <p:ph type="title"/>
          </p:nvPr>
        </p:nvSpPr>
        <p:spPr>
          <a:xfrm>
            <a:off x="838200" y="365125"/>
            <a:ext cx="10515600" cy="600075"/>
          </a:xfrm>
        </p:spPr>
        <p:txBody>
          <a:bodyPr>
            <a:normAutofit fontScale="90000"/>
          </a:bodyPr>
          <a:lstStyle/>
          <a:p>
            <a:r>
              <a:rPr lang="en-US" dirty="0"/>
              <a:t>Part II symmetry tools: Lie Group Theory</a:t>
            </a:r>
          </a:p>
        </p:txBody>
      </p:sp>
      <p:sp>
        <p:nvSpPr>
          <p:cNvPr id="3" name="Content Placeholder 2">
            <a:extLst>
              <a:ext uri="{FF2B5EF4-FFF2-40B4-BE49-F238E27FC236}">
                <a16:creationId xmlns:a16="http://schemas.microsoft.com/office/drawing/2014/main" id="{2A393157-C570-A551-57FF-70D7A1692D7B}"/>
              </a:ext>
            </a:extLst>
          </p:cNvPr>
          <p:cNvSpPr>
            <a:spLocks noGrp="1"/>
          </p:cNvSpPr>
          <p:nvPr>
            <p:ph idx="1"/>
          </p:nvPr>
        </p:nvSpPr>
        <p:spPr>
          <a:xfrm>
            <a:off x="897467" y="1148292"/>
            <a:ext cx="10515600" cy="5506508"/>
          </a:xfrm>
        </p:spPr>
        <p:txBody>
          <a:bodyPr>
            <a:normAutofit fontScale="85000" lnSpcReduction="20000"/>
          </a:bodyPr>
          <a:lstStyle/>
          <a:p>
            <a:r>
              <a:rPr lang="en-US" dirty="0"/>
              <a:t>‘Numbers measure size, groups measure symmetry’ – Mark A. Armstrong</a:t>
            </a:r>
          </a:p>
          <a:p>
            <a:r>
              <a:rPr lang="en-US" dirty="0"/>
              <a:t>The </a:t>
            </a:r>
            <a:r>
              <a:rPr lang="en-US" b="1" dirty="0" err="1"/>
              <a:t>Poincaré</a:t>
            </a:r>
            <a:r>
              <a:rPr lang="en-US" b="1" dirty="0"/>
              <a:t> group </a:t>
            </a:r>
            <a:r>
              <a:rPr lang="en-US" dirty="0"/>
              <a:t>is the </a:t>
            </a:r>
            <a:r>
              <a:rPr lang="en-US" b="1" dirty="0"/>
              <a:t>Lorentz group </a:t>
            </a:r>
            <a:r>
              <a:rPr lang="en-US" dirty="0"/>
              <a:t>(rotation and stretch) plus </a:t>
            </a:r>
            <a:r>
              <a:rPr lang="en-US" b="1" dirty="0"/>
              <a:t>translations</a:t>
            </a:r>
          </a:p>
          <a:p>
            <a:r>
              <a:rPr lang="en-US" b="1" dirty="0"/>
              <a:t>Group theory </a:t>
            </a:r>
            <a:r>
              <a:rPr lang="en-US" dirty="0"/>
              <a:t>– Mathematics that deals with symmetries</a:t>
            </a:r>
          </a:p>
          <a:p>
            <a:r>
              <a:rPr lang="en-US" b="1" dirty="0"/>
              <a:t>Lie group theory </a:t>
            </a:r>
            <a:r>
              <a:rPr lang="en-US" dirty="0"/>
              <a:t>- Mathematics that deals with </a:t>
            </a:r>
            <a:r>
              <a:rPr lang="en-US" b="1" dirty="0"/>
              <a:t>continuous</a:t>
            </a:r>
            <a:r>
              <a:rPr lang="en-US" dirty="0"/>
              <a:t> symmetries (the transformation parameters like rotation angle is continuous, not discrete)</a:t>
            </a:r>
          </a:p>
          <a:p>
            <a:r>
              <a:rPr lang="en-US" dirty="0"/>
              <a:t>A </a:t>
            </a:r>
            <a:r>
              <a:rPr lang="en-US" b="1" dirty="0"/>
              <a:t>group</a:t>
            </a:r>
            <a:r>
              <a:rPr lang="en-US" dirty="0"/>
              <a:t> is a collection of </a:t>
            </a:r>
            <a:r>
              <a:rPr lang="en-US" b="1" dirty="0"/>
              <a:t>transformations</a:t>
            </a:r>
            <a:r>
              <a:rPr lang="en-US" dirty="0"/>
              <a:t> (</a:t>
            </a:r>
            <a:r>
              <a:rPr lang="en-US" i="1" u="sng" dirty="0"/>
              <a:t>completely independent of the object the transformations act on</a:t>
            </a:r>
            <a:r>
              <a:rPr lang="en-US" dirty="0"/>
              <a:t>) with a </a:t>
            </a:r>
            <a:r>
              <a:rPr lang="en-US" b="1" dirty="0"/>
              <a:t>binary operation </a:t>
            </a:r>
            <a:r>
              <a:rPr lang="en-US" dirty="0"/>
              <a:t>that satisfies four fundamental axioms (closure, associativity, identity, and inverse)</a:t>
            </a:r>
          </a:p>
          <a:p>
            <a:r>
              <a:rPr lang="en-US" b="1" dirty="0"/>
              <a:t>Symmetry</a:t>
            </a:r>
            <a:r>
              <a:rPr lang="en-US" dirty="0"/>
              <a:t> is defined as the idea that invariance (something is invariant) under a set of transformations</a:t>
            </a:r>
          </a:p>
          <a:p>
            <a:r>
              <a:rPr lang="en-US" dirty="0"/>
              <a:t>The combination of transformations must be </a:t>
            </a:r>
            <a:r>
              <a:rPr lang="en-US" b="1" dirty="0"/>
              <a:t>associative (associativity)</a:t>
            </a:r>
            <a:r>
              <a:rPr lang="en-US" dirty="0"/>
              <a:t>, but not </a:t>
            </a:r>
            <a:r>
              <a:rPr lang="en-US" b="1" dirty="0"/>
              <a:t>commutative.</a:t>
            </a:r>
          </a:p>
          <a:p>
            <a:r>
              <a:rPr lang="en-US" b="1" dirty="0"/>
              <a:t>Representation theory </a:t>
            </a:r>
            <a:r>
              <a:rPr lang="en-US" dirty="0"/>
              <a:t>deals with different descriptions of the same transformations</a:t>
            </a:r>
          </a:p>
          <a:p>
            <a:r>
              <a:rPr lang="en-US" dirty="0"/>
              <a:t>The set of all transformations that leave a give object invariant is called a </a:t>
            </a:r>
            <a:r>
              <a:rPr lang="en-US" b="1" dirty="0"/>
              <a:t>symmetry group</a:t>
            </a:r>
            <a:endParaRPr lang="en-US" dirty="0"/>
          </a:p>
          <a:p>
            <a:endParaRPr lang="en-US" dirty="0"/>
          </a:p>
        </p:txBody>
      </p:sp>
    </p:spTree>
    <p:extLst>
      <p:ext uri="{BB962C8B-B14F-4D97-AF65-F5344CB8AC3E}">
        <p14:creationId xmlns:p14="http://schemas.microsoft.com/office/powerpoint/2010/main" val="43352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6164-9EC9-8102-6DF0-62C54F468E66}"/>
              </a:ext>
            </a:extLst>
          </p:cNvPr>
          <p:cNvSpPr>
            <a:spLocks noGrp="1"/>
          </p:cNvSpPr>
          <p:nvPr>
            <p:ph type="title"/>
          </p:nvPr>
        </p:nvSpPr>
        <p:spPr>
          <a:xfrm>
            <a:off x="838200" y="365125"/>
            <a:ext cx="10515600" cy="549275"/>
          </a:xfrm>
        </p:spPr>
        <p:txBody>
          <a:bodyPr>
            <a:normAutofit fontScale="90000"/>
          </a:bodyPr>
          <a:lstStyle/>
          <a:p>
            <a:r>
              <a:rPr lang="en-US" dirty="0"/>
              <a:t>Group theory</a:t>
            </a:r>
          </a:p>
        </p:txBody>
      </p:sp>
      <p:sp>
        <p:nvSpPr>
          <p:cNvPr id="3" name="Content Placeholder 2">
            <a:extLst>
              <a:ext uri="{FF2B5EF4-FFF2-40B4-BE49-F238E27FC236}">
                <a16:creationId xmlns:a16="http://schemas.microsoft.com/office/drawing/2014/main" id="{241A4C6B-F72F-1E26-B276-6011F82A23CC}"/>
              </a:ext>
            </a:extLst>
          </p:cNvPr>
          <p:cNvSpPr>
            <a:spLocks noGrp="1"/>
          </p:cNvSpPr>
          <p:nvPr>
            <p:ph idx="1"/>
          </p:nvPr>
        </p:nvSpPr>
        <p:spPr>
          <a:xfrm>
            <a:off x="838200" y="1016000"/>
            <a:ext cx="10515600" cy="5160963"/>
          </a:xfrm>
        </p:spPr>
        <p:txBody>
          <a:bodyPr/>
          <a:lstStyle/>
          <a:p>
            <a:r>
              <a:rPr lang="en-US" b="1" dirty="0"/>
              <a:t>Isomorphism</a:t>
            </a:r>
            <a:r>
              <a:rPr lang="en-US" dirty="0"/>
              <a:t> between </a:t>
            </a:r>
            <a:r>
              <a:rPr lang="en-US" i="1" dirty="0"/>
              <a:t>SO</a:t>
            </a:r>
            <a:r>
              <a:rPr lang="en-US" dirty="0"/>
              <a:t>(2) (</a:t>
            </a:r>
            <a:r>
              <a:rPr lang="en-US" i="1" dirty="0"/>
              <a:t>matrix representation</a:t>
            </a:r>
            <a:r>
              <a:rPr lang="en-US" dirty="0"/>
              <a:t>) and </a:t>
            </a:r>
            <a:r>
              <a:rPr lang="en-US" i="1" dirty="0"/>
              <a:t>U</a:t>
            </a:r>
            <a:r>
              <a:rPr lang="en-US" dirty="0"/>
              <a:t>(1) (</a:t>
            </a:r>
            <a:r>
              <a:rPr lang="en-US" i="1" dirty="0"/>
              <a:t>complex number representation</a:t>
            </a:r>
            <a:r>
              <a:rPr lang="en-US" dirty="0"/>
              <a:t>)</a:t>
            </a:r>
          </a:p>
          <a:p>
            <a:r>
              <a:rPr lang="en-US" dirty="0"/>
              <a:t>We use </a:t>
            </a:r>
            <a:r>
              <a:rPr lang="en-US" b="1" dirty="0"/>
              <a:t>Quaternions</a:t>
            </a:r>
            <a:r>
              <a:rPr lang="en-US" dirty="0"/>
              <a:t> (4D complex numbers)as tool to describe rotations in 3D. Take note that unit quaternions have exactly 3 degrees of freedom.</a:t>
            </a:r>
          </a:p>
          <a:p>
            <a:r>
              <a:rPr lang="en-US" dirty="0" err="1"/>
              <a:t>ijk</a:t>
            </a:r>
            <a:r>
              <a:rPr lang="en-US" dirty="0"/>
              <a:t>=-1, </a:t>
            </a:r>
            <a:r>
              <a:rPr lang="en-US" dirty="0" err="1"/>
              <a:t>ij</a:t>
            </a:r>
            <a:r>
              <a:rPr lang="en-US" dirty="0"/>
              <a:t>=k, ki=j, </a:t>
            </a:r>
            <a:r>
              <a:rPr lang="en-US" dirty="0" err="1"/>
              <a:t>jk</a:t>
            </a:r>
            <a:r>
              <a:rPr lang="en-US" dirty="0"/>
              <a:t>=I, ji=-k, </a:t>
            </a:r>
            <a:r>
              <a:rPr lang="en-US" dirty="0" err="1"/>
              <a:t>kj</a:t>
            </a:r>
            <a:r>
              <a:rPr lang="en-US" dirty="0"/>
              <a:t>=-I, </a:t>
            </a:r>
            <a:r>
              <a:rPr lang="en-US" dirty="0" err="1"/>
              <a:t>ik</a:t>
            </a:r>
            <a:r>
              <a:rPr lang="en-US" dirty="0"/>
              <a:t>=-j</a:t>
            </a:r>
          </a:p>
          <a:p>
            <a:endParaRPr lang="en-US" dirty="0"/>
          </a:p>
        </p:txBody>
      </p:sp>
    </p:spTree>
    <p:extLst>
      <p:ext uri="{BB962C8B-B14F-4D97-AF65-F5344CB8AC3E}">
        <p14:creationId xmlns:p14="http://schemas.microsoft.com/office/powerpoint/2010/main" val="3764826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BA29-540C-392B-7843-09B5C2ACAB98}"/>
              </a:ext>
            </a:extLst>
          </p:cNvPr>
          <p:cNvSpPr>
            <a:spLocks noGrp="1"/>
          </p:cNvSpPr>
          <p:nvPr>
            <p:ph type="title"/>
          </p:nvPr>
        </p:nvSpPr>
        <p:spPr>
          <a:xfrm>
            <a:off x="838200" y="365126"/>
            <a:ext cx="10515600" cy="566208"/>
          </a:xfrm>
        </p:spPr>
        <p:txBody>
          <a:bodyPr>
            <a:normAutofit fontScale="90000"/>
          </a:bodyPr>
          <a:lstStyle/>
          <a:p>
            <a:r>
              <a:rPr lang="en-US" dirty="0"/>
              <a:t>Lie Group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CB5BBD5-3CC8-2A3A-54F8-2E90AFE2E809}"/>
                  </a:ext>
                </a:extLst>
              </p:cNvPr>
              <p:cNvSpPr>
                <a:spLocks noGrp="1"/>
              </p:cNvSpPr>
              <p:nvPr>
                <p:ph idx="1"/>
              </p:nvPr>
            </p:nvSpPr>
            <p:spPr>
              <a:xfrm>
                <a:off x="838199" y="1049867"/>
                <a:ext cx="10989733" cy="5127096"/>
              </a:xfrm>
            </p:spPr>
            <p:txBody>
              <a:bodyPr/>
              <a:lstStyle/>
              <a:p>
                <a:r>
                  <a:rPr lang="en-US" dirty="0"/>
                  <a:t>For a </a:t>
                </a:r>
                <a:r>
                  <a:rPr lang="en-US" b="1" dirty="0"/>
                  <a:t>Lie Group</a:t>
                </a:r>
                <a:r>
                  <a:rPr lang="en-US" dirty="0"/>
                  <a:t> G (given by n*n matrices with a binary operation</a:t>
                </a:r>
                <a14:m>
                  <m:oMath xmlns:m="http://schemas.openxmlformats.org/officeDocument/2006/math">
                    <m:r>
                      <a:rPr lang="en-US" b="0" i="0"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m:t>
                    </m:r>
                  </m:oMath>
                </a14:m>
                <a:r>
                  <a:rPr lang="en-US" dirty="0"/>
                  <a:t>), the </a:t>
                </a:r>
                <a:r>
                  <a:rPr lang="en-US" b="1" dirty="0"/>
                  <a:t>Lie algebra</a:t>
                </a:r>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𝔤</m:t>
                    </m:r>
                  </m:oMath>
                </a14:m>
                <a:r>
                  <a:rPr lang="en-US" dirty="0"/>
                  <a:t> (‘Fraktur’ letter)of G is given by those n*n matrices X (generators) such that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𝑡𝑋</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oMath>
                </a14:m>
                <a:r>
                  <a:rPr lang="en-US" dirty="0"/>
                  <a:t>, together with an operation, called the </a:t>
                </a:r>
                <a:r>
                  <a:rPr lang="en-US" b="1" dirty="0"/>
                  <a:t>Lie bracket </a:t>
                </a:r>
                <a14:m>
                  <m:oMath xmlns:m="http://schemas.openxmlformats.org/officeDocument/2006/math">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m:t>
                        </m:r>
                      </m:e>
                    </m:d>
                  </m:oMath>
                </a14:m>
                <a:r>
                  <a:rPr lang="en-US" dirty="0"/>
                  <a:t> that tell us how we can combine these matrices (generators)</a:t>
                </a:r>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𝑡𝑋</m:t>
                        </m:r>
                      </m:sup>
                    </m:sSup>
                    <m:r>
                      <a:rPr lang="en-US" b="0" i="1" smtClean="0">
                        <a:latin typeface="Cambria Math" panose="02040503050406030204" pitchFamily="18" charset="0"/>
                      </a:rPr>
                      <m:t>=</m:t>
                    </m:r>
                    <m:func>
                      <m:funcPr>
                        <m:ctrlPr>
                          <a:rPr lang="pt-BR" b="0" i="1" smtClean="0">
                            <a:latin typeface="Cambria Math" panose="02040503050406030204" pitchFamily="18" charset="0"/>
                          </a:rPr>
                        </m:ctrlPr>
                      </m:funcPr>
                      <m:fName>
                        <m:limLow>
                          <m:limLowPr>
                            <m:ctrlPr>
                              <a:rPr lang="pt-BR" b="0" i="1" smtClean="0">
                                <a:latin typeface="Cambria Math" panose="02040503050406030204" pitchFamily="18" charset="0"/>
                              </a:rPr>
                            </m:ctrlPr>
                          </m:limLowPr>
                          <m:e>
                            <m:r>
                              <m:rPr>
                                <m:sty m:val="p"/>
                              </m:rPr>
                              <a:rPr lang="pt-BR" b="0" i="0" smtClean="0">
                                <a:latin typeface="Cambria Math" panose="02040503050406030204" pitchFamily="18" charset="0"/>
                              </a:rPr>
                              <m:t>lim</m:t>
                            </m:r>
                          </m:e>
                          <m:lim>
                            <m:r>
                              <a:rPr lang="en-US" b="0" i="1" smtClean="0">
                                <a:latin typeface="Cambria Math" panose="02040503050406030204" pitchFamily="18" charset="0"/>
                              </a:rPr>
                              <m:t>𝑁</m:t>
                            </m:r>
                            <m:r>
                              <a:rPr lang="pt-BR" b="0" i="1" smtClean="0">
                                <a:latin typeface="Cambria Math" panose="02040503050406030204" pitchFamily="18" charset="0"/>
                              </a:rPr>
                              <m:t>→∞</m:t>
                            </m:r>
                          </m:lim>
                        </m:limLow>
                      </m:fName>
                      <m:e>
                        <m:sSup>
                          <m:sSupPr>
                            <m:ctrlPr>
                              <a:rPr lang="pt-BR" b="0" i="1" smtClean="0">
                                <a:latin typeface="Cambria Math" panose="02040503050406030204" pitchFamily="18" charset="0"/>
                              </a:rPr>
                            </m:ctrlPr>
                          </m:sSupPr>
                          <m:e>
                            <m:d>
                              <m:dPr>
                                <m:ctrlPr>
                                  <a:rPr lang="pt-BR" b="0" i="1" smtClean="0">
                                    <a:latin typeface="Cambria Math" panose="02040503050406030204" pitchFamily="18" charset="0"/>
                                  </a:rPr>
                                </m:ctrlPr>
                              </m:dPr>
                              <m:e>
                                <m:r>
                                  <a:rPr lang="pt-BR" b="0" i="1" smtClean="0">
                                    <a:latin typeface="Cambria Math" panose="02040503050406030204" pitchFamily="18" charset="0"/>
                                  </a:rPr>
                                  <m:t>1+</m:t>
                                </m:r>
                                <m:f>
                                  <m:fPr>
                                    <m:ctrlPr>
                                      <a:rPr lang="pt-BR" b="0" i="1" smtClean="0">
                                        <a:latin typeface="Cambria Math" panose="02040503050406030204" pitchFamily="18" charset="0"/>
                                      </a:rPr>
                                    </m:ctrlPr>
                                  </m:fPr>
                                  <m:num>
                                    <m:r>
                                      <a:rPr lang="en-US" b="0" i="1" smtClean="0">
                                        <a:latin typeface="Cambria Math" panose="02040503050406030204" pitchFamily="18" charset="0"/>
                                      </a:rPr>
                                      <m:t>𝑡𝑋</m:t>
                                    </m:r>
                                  </m:num>
                                  <m:den>
                                    <m:r>
                                      <a:rPr lang="en-US" b="0" i="1" smtClean="0">
                                        <a:latin typeface="Cambria Math" panose="02040503050406030204" pitchFamily="18" charset="0"/>
                                      </a:rPr>
                                      <m:t>𝑁</m:t>
                                    </m:r>
                                  </m:den>
                                </m:f>
                              </m:e>
                            </m:d>
                          </m:e>
                          <m:sup>
                            <m:r>
                              <a:rPr lang="en-US" b="0" i="1" smtClean="0">
                                <a:latin typeface="Cambria Math" panose="02040503050406030204" pitchFamily="18" charset="0"/>
                              </a:rPr>
                              <m:t>𝑁</m:t>
                            </m:r>
                          </m:sup>
                        </m:sSup>
                      </m:e>
                    </m:func>
                  </m:oMath>
                </a14:m>
                <a:endParaRPr lang="en-US" dirty="0"/>
              </a:p>
              <a:p>
                <a:r>
                  <a:rPr lang="en-US" dirty="0"/>
                  <a:t>[X,Y]=XY-YX, which is called the </a:t>
                </a:r>
                <a:r>
                  <a:rPr lang="en-US" b="1" dirty="0"/>
                  <a:t>commutator </a:t>
                </a:r>
                <a:r>
                  <a:rPr lang="en-US" dirty="0"/>
                  <a:t>of X and Y</a:t>
                </a:r>
              </a:p>
              <a:p>
                <a:r>
                  <a:rPr lang="en-US" dirty="0"/>
                  <a:t>The connection between the combination rule of the Lie group (matrix multiplication) and the combination rule of the Lie algebra is given by </a:t>
                </a:r>
                <a:r>
                  <a:rPr lang="en-US" b="1" dirty="0"/>
                  <a:t>Baker-Campbell-</a:t>
                </a:r>
                <a:r>
                  <a:rPr lang="en-US" b="1" dirty="0" err="1"/>
                  <a:t>Hausdorff</a:t>
                </a:r>
                <a:r>
                  <a:rPr lang="en-US" b="1" dirty="0"/>
                  <a:t> formula</a:t>
                </a:r>
              </a:p>
              <a:p>
                <a:endParaRPr lang="en-US" dirty="0"/>
              </a:p>
            </p:txBody>
          </p:sp>
        </mc:Choice>
        <mc:Fallback>
          <p:sp>
            <p:nvSpPr>
              <p:cNvPr id="3" name="Content Placeholder 2">
                <a:extLst>
                  <a:ext uri="{FF2B5EF4-FFF2-40B4-BE49-F238E27FC236}">
                    <a16:creationId xmlns:a16="http://schemas.microsoft.com/office/drawing/2014/main" id="{7CB5BBD5-3CC8-2A3A-54F8-2E90AFE2E809}"/>
                  </a:ext>
                </a:extLst>
              </p:cNvPr>
              <p:cNvSpPr>
                <a:spLocks noGrp="1" noRot="1" noChangeAspect="1" noMove="1" noResize="1" noEditPoints="1" noAdjustHandles="1" noChangeArrowheads="1" noChangeShapeType="1" noTextEdit="1"/>
              </p:cNvSpPr>
              <p:nvPr>
                <p:ph idx="1"/>
              </p:nvPr>
            </p:nvSpPr>
            <p:spPr>
              <a:xfrm>
                <a:off x="838199" y="1049867"/>
                <a:ext cx="10989733" cy="5127096"/>
              </a:xfrm>
              <a:blipFill>
                <a:blip r:embed="rId2"/>
                <a:stretch>
                  <a:fillRect l="-943" t="-2021" r="-1387"/>
                </a:stretch>
              </a:blipFill>
            </p:spPr>
            <p:txBody>
              <a:bodyPr/>
              <a:lstStyle/>
              <a:p>
                <a:r>
                  <a:rPr lang="en-US">
                    <a:noFill/>
                  </a:rPr>
                  <a:t> </a:t>
                </a:r>
              </a:p>
            </p:txBody>
          </p:sp>
        </mc:Fallback>
      </mc:AlternateContent>
    </p:spTree>
    <p:extLst>
      <p:ext uri="{BB962C8B-B14F-4D97-AF65-F5344CB8AC3E}">
        <p14:creationId xmlns:p14="http://schemas.microsoft.com/office/powerpoint/2010/main" val="379775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EACC816-95D8-03C2-8F90-33FF32746F87}"/>
                  </a:ext>
                </a:extLst>
              </p:cNvPr>
              <p:cNvSpPr>
                <a:spLocks noGrp="1"/>
              </p:cNvSpPr>
              <p:nvPr>
                <p:ph type="title"/>
              </p:nvPr>
            </p:nvSpPr>
            <p:spPr>
              <a:xfrm>
                <a:off x="838200" y="365126"/>
                <a:ext cx="10515600" cy="887942"/>
              </a:xfrm>
            </p:spPr>
            <p:txBody>
              <a:bodyPr>
                <a:normAutofit/>
              </a:bodyPr>
              <a:lstStyle/>
              <a:p>
                <a:r>
                  <a:rPr lang="en-US" sz="3200" dirty="0"/>
                  <a:t>SU(2) and SO(3) have the same Lie bracket </a:t>
                </a:r>
                <a14:m>
                  <m:oMath xmlns:m="http://schemas.openxmlformats.org/officeDocument/2006/math">
                    <m:d>
                      <m:dPr>
                        <m:begChr m:val="["/>
                        <m:endChr m:val="]"/>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i="1">
                                <a:latin typeface="Cambria Math" panose="02040503050406030204" pitchFamily="18" charset="0"/>
                              </a:rPr>
                              <m:t>𝐽</m:t>
                            </m:r>
                          </m:e>
                          <m:sub>
                            <m:r>
                              <a:rPr lang="en-US" sz="3200" i="1">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𝐽</m:t>
                            </m:r>
                          </m:e>
                          <m:sub>
                            <m:r>
                              <a:rPr lang="en-US" sz="3200" b="0" i="1" smtClean="0">
                                <a:latin typeface="Cambria Math" panose="02040503050406030204" pitchFamily="18" charset="0"/>
                              </a:rPr>
                              <m:t>𝑗</m:t>
                            </m:r>
                          </m:sub>
                        </m:sSub>
                      </m:e>
                    </m:d>
                    <m:r>
                      <a:rPr lang="en-US" sz="3200" b="0" i="1" smtClean="0">
                        <a:latin typeface="Cambria Math" panose="02040503050406030204" pitchFamily="18" charset="0"/>
                      </a:rPr>
                      <m:t>=</m:t>
                    </m:r>
                    <m:r>
                      <a:rPr lang="en-US" sz="3200" b="0" i="1" smtClean="0">
                        <a:latin typeface="Cambria Math" panose="02040503050406030204" pitchFamily="18" charset="0"/>
                      </a:rPr>
                      <m:t>𝑖</m:t>
                    </m:r>
                    <m:sSub>
                      <m:sSubPr>
                        <m:ctrlPr>
                          <a:rPr lang="en-US" sz="3200" b="0" i="1" smtClean="0">
                            <a:latin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𝜖</m:t>
                        </m:r>
                      </m:e>
                      <m:sub>
                        <m:r>
                          <a:rPr lang="en-US" sz="3200" i="1">
                            <a:latin typeface="Cambria Math" panose="02040503050406030204" pitchFamily="18" charset="0"/>
                            <a:ea typeface="Cambria Math" panose="02040503050406030204" pitchFamily="18" charset="0"/>
                          </a:rPr>
                          <m:t>𝑖𝑗𝑘</m:t>
                        </m:r>
                      </m:sub>
                    </m:sSub>
                    <m:sSub>
                      <m:sSubPr>
                        <m:ctrlPr>
                          <a:rPr lang="en-US" sz="3200" i="1">
                            <a:latin typeface="Cambria Math" panose="02040503050406030204" pitchFamily="18" charset="0"/>
                          </a:rPr>
                        </m:ctrlPr>
                      </m:sSubPr>
                      <m:e>
                        <m:r>
                          <a:rPr lang="en-US" sz="3200" i="1">
                            <a:latin typeface="Cambria Math" panose="02040503050406030204" pitchFamily="18" charset="0"/>
                          </a:rPr>
                          <m:t>𝐽</m:t>
                        </m:r>
                      </m:e>
                      <m:sub>
                        <m:r>
                          <a:rPr lang="en-US" sz="3200" b="0" i="1" smtClean="0">
                            <a:latin typeface="Cambria Math" panose="02040503050406030204" pitchFamily="18" charset="0"/>
                          </a:rPr>
                          <m:t>𝑘</m:t>
                        </m:r>
                      </m:sub>
                    </m:sSub>
                  </m:oMath>
                </a14:m>
                <a:endParaRPr lang="en-US" sz="3200" dirty="0"/>
              </a:p>
            </p:txBody>
          </p:sp>
        </mc:Choice>
        <mc:Fallback>
          <p:sp>
            <p:nvSpPr>
              <p:cNvPr id="2" name="Title 1">
                <a:extLst>
                  <a:ext uri="{FF2B5EF4-FFF2-40B4-BE49-F238E27FC236}">
                    <a16:creationId xmlns:a16="http://schemas.microsoft.com/office/drawing/2014/main" id="{2EACC816-95D8-03C2-8F90-33FF32746F87}"/>
                  </a:ext>
                </a:extLst>
              </p:cNvPr>
              <p:cNvSpPr>
                <a:spLocks noGrp="1" noRot="1" noChangeAspect="1" noMove="1" noResize="1" noEditPoints="1" noAdjustHandles="1" noChangeArrowheads="1" noChangeShapeType="1" noTextEdit="1"/>
              </p:cNvSpPr>
              <p:nvPr>
                <p:ph type="title"/>
              </p:nvPr>
            </p:nvSpPr>
            <p:spPr>
              <a:xfrm>
                <a:off x="838200" y="365126"/>
                <a:ext cx="10515600" cy="887942"/>
              </a:xfrm>
              <a:blipFill>
                <a:blip r:embed="rId2"/>
                <a:stretch>
                  <a:fillRect l="-1507" b="-41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4CCA20-D1B3-1D2B-A303-12A6F2BD217E}"/>
                  </a:ext>
                </a:extLst>
              </p:cNvPr>
              <p:cNvSpPr>
                <a:spLocks noGrp="1"/>
              </p:cNvSpPr>
              <p:nvPr>
                <p:ph idx="1"/>
              </p:nvPr>
            </p:nvSpPr>
            <p:spPr>
              <a:xfrm>
                <a:off x="838200" y="1253068"/>
                <a:ext cx="10515600" cy="4923895"/>
              </a:xfrm>
            </p:spPr>
            <p:txBody>
              <a:bodyPr>
                <a:normAutofit fontScale="92500" lnSpcReduction="10000"/>
              </a:bodyPr>
              <a:lstStyle/>
              <a:p>
                <a:r>
                  <a:rPr lang="en-US" dirty="0"/>
                  <a:t>SU(2): specific (det=1) 2*2 unitary complex matrices</a:t>
                </a:r>
              </a:p>
              <a:p>
                <a:r>
                  <a:rPr lang="en-US" dirty="0"/>
                  <a:t>SO(3): specific (det=1) 3*3 orthogonal matrices</a:t>
                </a:r>
              </a:p>
              <a:p>
                <a:r>
                  <a:rPr lang="en-US" dirty="0"/>
                  <a:t>They are about rotation transformations in 3D</a:t>
                </a:r>
              </a:p>
              <a:p>
                <a:r>
                  <a:rPr lang="en-US" dirty="0"/>
                  <a:t>S</a:t>
                </a:r>
                <a:r>
                  <a:rPr lang="en-US" baseline="30000" dirty="0"/>
                  <a:t>1</a:t>
                </a:r>
                <a:r>
                  <a:rPr lang="en-US" dirty="0"/>
                  <a:t>=U(1)=SO(2): one-to-one mapping (isomorphic)</a:t>
                </a:r>
              </a:p>
              <a:p>
                <a:r>
                  <a:rPr lang="en-US" dirty="0"/>
                  <a:t>SU(2) is the </a:t>
                </a:r>
                <a:r>
                  <a:rPr lang="en-US" b="1" dirty="0"/>
                  <a:t>double cover </a:t>
                </a:r>
                <a:r>
                  <a:rPr lang="en-US" dirty="0"/>
                  <a:t>of SO(3): two-to-one mapping</a:t>
                </a:r>
              </a:p>
              <a:p>
                <a:pPr lvl="1"/>
                <a:r>
                  <a:rPr lang="en-US" dirty="0"/>
                  <a:t>SU(2) and unit quaternions (a</a:t>
                </a:r>
                <a:r>
                  <a:rPr lang="en-US" baseline="30000" dirty="0"/>
                  <a:t>2</a:t>
                </a:r>
                <a:r>
                  <a:rPr lang="en-US" dirty="0"/>
                  <a:t>+b</a:t>
                </a:r>
                <a:r>
                  <a:rPr lang="en-US" baseline="30000" dirty="0"/>
                  <a:t>2</a:t>
                </a:r>
                <a:r>
                  <a:rPr lang="en-US" dirty="0"/>
                  <a:t>+c</a:t>
                </a:r>
                <a:r>
                  <a:rPr lang="en-US" baseline="30000" dirty="0"/>
                  <a:t>2</a:t>
                </a:r>
                <a:r>
                  <a:rPr lang="en-US" dirty="0"/>
                  <a:t>+d</a:t>
                </a:r>
                <a:r>
                  <a:rPr lang="en-US" baseline="30000" dirty="0"/>
                  <a:t>2</a:t>
                </a:r>
                <a:r>
                  <a:rPr lang="en-US" dirty="0"/>
                  <a:t>=1, </a:t>
                </a:r>
                <a:r>
                  <a:rPr lang="en-US" b="1" dirty="0"/>
                  <a:t>three-sphere S</a:t>
                </a:r>
                <a:r>
                  <a:rPr lang="en-US" b="1" baseline="30000" dirty="0"/>
                  <a:t>3</a:t>
                </a:r>
                <a:r>
                  <a:rPr lang="en-US" dirty="0"/>
                  <a:t>: 3D surface in 4D space) have one-to-one mapping</a:t>
                </a:r>
              </a:p>
              <a:p>
                <a:pPr lvl="1"/>
                <a:r>
                  <a:rPr lang="en-US" dirty="0"/>
                  <a:t>SO(3) is </a:t>
                </a:r>
                <a:r>
                  <a:rPr lang="en-US" b="1" dirty="0"/>
                  <a:t>top half of S</a:t>
                </a:r>
                <a:r>
                  <a:rPr lang="en-US" b="1" baseline="30000" dirty="0"/>
                  <a:t>3</a:t>
                </a:r>
                <a:endParaRPr lang="en-US" b="1" dirty="0"/>
              </a:p>
              <a:p>
                <a:r>
                  <a:rPr lang="en-US" dirty="0">
                    <a:solidFill>
                      <a:schemeClr val="tx1"/>
                    </a:solidFill>
                  </a:rPr>
                  <a:t>SU(2) is the </a:t>
                </a:r>
                <a:r>
                  <a:rPr lang="en-US" b="1" dirty="0">
                    <a:solidFill>
                      <a:schemeClr val="tx1"/>
                    </a:solidFill>
                  </a:rPr>
                  <a:t>distinguished group (covering group) </a:t>
                </a:r>
                <a:r>
                  <a:rPr lang="en-US" dirty="0">
                    <a:solidFill>
                      <a:schemeClr val="tx1"/>
                    </a:solidFill>
                  </a:rPr>
                  <a:t>belonging to the Lie algebra </a:t>
                </a:r>
                <a14:m>
                  <m:oMath xmlns:m="http://schemas.openxmlformats.org/officeDocument/2006/math">
                    <m:d>
                      <m:dPr>
                        <m:begChr m:val="["/>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𝐽</m:t>
                            </m:r>
                          </m:e>
                          <m:sub>
                            <m:r>
                              <a:rPr lang="en-US" b="0" i="1">
                                <a:solidFill>
                                  <a:schemeClr val="tx1"/>
                                </a:solidFill>
                                <a:latin typeface="Cambria Math" panose="02040503050406030204" pitchFamily="18" charset="0"/>
                              </a:rPr>
                              <m:t>𝑖</m:t>
                            </m:r>
                          </m:sub>
                        </m:sSub>
                        <m:r>
                          <a:rPr lang="en-US" b="0"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𝐽</m:t>
                            </m:r>
                          </m:e>
                          <m:sub>
                            <m:r>
                              <a:rPr lang="en-US" b="0" i="1">
                                <a:solidFill>
                                  <a:schemeClr val="tx1"/>
                                </a:solidFill>
                                <a:latin typeface="Cambria Math" panose="02040503050406030204" pitchFamily="18" charset="0"/>
                              </a:rPr>
                              <m:t>𝑗</m:t>
                            </m:r>
                          </m:sub>
                        </m:sSub>
                      </m:e>
                    </m:d>
                    <m:r>
                      <a:rPr lang="en-US" b="0"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𝑖</m:t>
                    </m:r>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ea typeface="Cambria Math" panose="02040503050406030204" pitchFamily="18" charset="0"/>
                          </a:rPr>
                          <m:t>𝜖</m:t>
                        </m:r>
                      </m:e>
                      <m:sub>
                        <m:r>
                          <a:rPr lang="en-US" b="0" i="1">
                            <a:solidFill>
                              <a:schemeClr val="tx1"/>
                            </a:solidFill>
                            <a:latin typeface="Cambria Math" panose="02040503050406030204" pitchFamily="18" charset="0"/>
                            <a:ea typeface="Cambria Math" panose="02040503050406030204" pitchFamily="18" charset="0"/>
                          </a:rPr>
                          <m:t>𝑖𝑗𝑘</m:t>
                        </m:r>
                      </m:sub>
                    </m:sSub>
                    <m:sSub>
                      <m:sSubPr>
                        <m:ctrlPr>
                          <a:rPr lang="en-US" i="1">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𝐽</m:t>
                        </m:r>
                      </m:e>
                      <m:sub>
                        <m:r>
                          <a:rPr lang="en-US" b="0" i="1">
                            <a:solidFill>
                              <a:schemeClr val="tx1"/>
                            </a:solidFill>
                            <a:latin typeface="Cambria Math" panose="02040503050406030204" pitchFamily="18" charset="0"/>
                          </a:rPr>
                          <m:t>𝑘</m:t>
                        </m:r>
                      </m:sub>
                    </m:sSub>
                  </m:oMath>
                </a14:m>
                <a:r>
                  <a:rPr lang="en-US" dirty="0">
                    <a:solidFill>
                      <a:schemeClr val="tx1"/>
                    </a:solidFill>
                  </a:rPr>
                  <a:t>, because S</a:t>
                </a:r>
                <a:r>
                  <a:rPr lang="en-US" baseline="30000" dirty="0">
                    <a:solidFill>
                      <a:schemeClr val="tx1"/>
                    </a:solidFill>
                  </a:rPr>
                  <a:t>3</a:t>
                </a:r>
                <a:r>
                  <a:rPr lang="en-US" dirty="0">
                    <a:solidFill>
                      <a:schemeClr val="tx1"/>
                    </a:solidFill>
                  </a:rPr>
                  <a:t> is a simply connected </a:t>
                </a:r>
                <a:r>
                  <a:rPr lang="en-US" b="1" dirty="0">
                    <a:solidFill>
                      <a:schemeClr val="tx1"/>
                    </a:solidFill>
                  </a:rPr>
                  <a:t>manifold</a:t>
                </a:r>
                <a:r>
                  <a:rPr lang="en-US" dirty="0">
                    <a:solidFill>
                      <a:schemeClr val="tx1"/>
                    </a:solidFill>
                  </a:rPr>
                  <a:t> (a set of points which can be given n independent coordinates in some neighborhood of any point). </a:t>
                </a:r>
              </a:p>
            </p:txBody>
          </p:sp>
        </mc:Choice>
        <mc:Fallback>
          <p:sp>
            <p:nvSpPr>
              <p:cNvPr id="3" name="Content Placeholder 2">
                <a:extLst>
                  <a:ext uri="{FF2B5EF4-FFF2-40B4-BE49-F238E27FC236}">
                    <a16:creationId xmlns:a16="http://schemas.microsoft.com/office/drawing/2014/main" id="{A64CCA20-D1B3-1D2B-A303-12A6F2BD217E}"/>
                  </a:ext>
                </a:extLst>
              </p:cNvPr>
              <p:cNvSpPr>
                <a:spLocks noGrp="1" noRot="1" noChangeAspect="1" noMove="1" noResize="1" noEditPoints="1" noAdjustHandles="1" noChangeArrowheads="1" noChangeShapeType="1" noTextEdit="1"/>
              </p:cNvSpPr>
              <p:nvPr>
                <p:ph idx="1"/>
              </p:nvPr>
            </p:nvSpPr>
            <p:spPr>
              <a:xfrm>
                <a:off x="838200" y="1253068"/>
                <a:ext cx="10515600" cy="4923895"/>
              </a:xfrm>
              <a:blipFill>
                <a:blip r:embed="rId3"/>
                <a:stretch>
                  <a:fillRect l="-928" t="-2602" r="-174"/>
                </a:stretch>
              </a:blipFill>
            </p:spPr>
            <p:txBody>
              <a:bodyPr/>
              <a:lstStyle/>
              <a:p>
                <a:r>
                  <a:rPr lang="en-US">
                    <a:noFill/>
                  </a:rPr>
                  <a:t> </a:t>
                </a:r>
              </a:p>
            </p:txBody>
          </p:sp>
        </mc:Fallback>
      </mc:AlternateContent>
    </p:spTree>
    <p:extLst>
      <p:ext uri="{BB962C8B-B14F-4D97-AF65-F5344CB8AC3E}">
        <p14:creationId xmlns:p14="http://schemas.microsoft.com/office/powerpoint/2010/main" val="1380568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4127-B4AD-95CB-80C2-CA56563CFDB0}"/>
              </a:ext>
            </a:extLst>
          </p:cNvPr>
          <p:cNvSpPr>
            <a:spLocks noGrp="1"/>
          </p:cNvSpPr>
          <p:nvPr>
            <p:ph type="title"/>
          </p:nvPr>
        </p:nvSpPr>
        <p:spPr>
          <a:xfrm>
            <a:off x="838200" y="365126"/>
            <a:ext cx="10515600" cy="379942"/>
          </a:xfrm>
        </p:spPr>
        <p:txBody>
          <a:bodyPr>
            <a:normAutofit fontScale="90000"/>
          </a:bodyPr>
          <a:lstStyle/>
          <a:p>
            <a:r>
              <a:rPr lang="en-US" dirty="0"/>
              <a:t>Representation Theory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AA8508-B755-393F-C842-04E93547CE86}"/>
                  </a:ext>
                </a:extLst>
              </p:cNvPr>
              <p:cNvSpPr>
                <a:spLocks noGrp="1"/>
              </p:cNvSpPr>
              <p:nvPr>
                <p:ph idx="1"/>
              </p:nvPr>
            </p:nvSpPr>
            <p:spPr>
              <a:xfrm>
                <a:off x="838200" y="1032933"/>
                <a:ext cx="10515600" cy="5144030"/>
              </a:xfrm>
            </p:spPr>
            <p:txBody>
              <a:bodyPr>
                <a:normAutofit fontScale="92500" lnSpcReduction="10000"/>
              </a:bodyPr>
              <a:lstStyle/>
              <a:p>
                <a:r>
                  <a:rPr lang="en-US" dirty="0"/>
                  <a:t>A </a:t>
                </a:r>
                <a:r>
                  <a:rPr lang="en-US" b="1" dirty="0"/>
                  <a:t>representation</a:t>
                </a:r>
                <a:r>
                  <a:rPr lang="en-US" dirty="0"/>
                  <a:t> is a map between any group element g of a group G and a linear transformation (a matrix) R(g) of some vector-space V (can be any-dimensional).</a:t>
                </a:r>
              </a:p>
              <a:p>
                <a:r>
                  <a:rPr lang="en-US" i="1" u="sng" dirty="0"/>
                  <a:t>SO(3) means rotations of the whole 3D space, but the objects can live in lower or higher dimensions and respond differently to the same rotation.  </a:t>
                </a:r>
              </a:p>
              <a:p>
                <a:r>
                  <a:rPr lang="en-US" b="1" dirty="0"/>
                  <a:t>Similarity transformation</a:t>
                </a:r>
                <a:r>
                  <a:rPr lang="en-US" i="1" dirty="0"/>
                  <a:t>: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𝑅</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𝑆</m:t>
                        </m:r>
                      </m:e>
                      <m:sup>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𝑅𝑆</m:t>
                    </m:r>
                  </m:oMath>
                </a14:m>
                <a:endParaRPr lang="en-US" b="0" i="1" dirty="0">
                  <a:ea typeface="Cambria Math" panose="02040503050406030204" pitchFamily="18" charset="0"/>
                </a:endParaRPr>
              </a:p>
              <a:p>
                <a:r>
                  <a:rPr lang="en-US" b="1" dirty="0">
                    <a:ea typeface="Cambria Math" panose="02040503050406030204" pitchFamily="18" charset="0"/>
                  </a:rPr>
                  <a:t>Invariant subspace</a:t>
                </a:r>
                <a:r>
                  <a:rPr lang="en-US" dirty="0">
                    <a:ea typeface="Cambria Math" panose="02040503050406030204" pitchFamily="18" charset="0"/>
                  </a:rPr>
                  <a:t>: When we have a representation R of a group G on a vector space V, we call </a:t>
                </a:r>
                <a14:m>
                  <m:oMath xmlns:m="http://schemas.openxmlformats.org/officeDocument/2006/math">
                    <m:r>
                      <a:rPr lang="en-US" i="1" dirty="0" smtClean="0">
                        <a:latin typeface="Cambria Math" panose="02040503050406030204" pitchFamily="18" charset="0"/>
                        <a:ea typeface="Cambria Math" panose="02040503050406030204" pitchFamily="18" charset="0"/>
                      </a:rPr>
                      <m:t>𝑉</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𝑉</m:t>
                    </m:r>
                  </m:oMath>
                </a14:m>
                <a:r>
                  <a:rPr lang="en-US" b="1" dirty="0">
                    <a:ea typeface="Cambria Math" panose="02040503050406030204" pitchFamily="18" charset="0"/>
                  </a:rPr>
                  <a:t> </a:t>
                </a:r>
                <a:r>
                  <a:rPr lang="en-US" dirty="0">
                    <a:ea typeface="Cambria Math" panose="02040503050406030204" pitchFamily="18" charset="0"/>
                  </a:rPr>
                  <a:t>an invariant subspace if for </a:t>
                </a:r>
                <a14:m>
                  <m:oMath xmlns:m="http://schemas.openxmlformats.org/officeDocument/2006/math">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a14:m>
                <a:r>
                  <a:rPr lang="en-US" dirty="0">
                    <a:ea typeface="Cambria Math" panose="02040503050406030204" pitchFamily="18" charset="0"/>
                  </a:rPr>
                  <a:t>, we have </a:t>
                </a:r>
                <a14:m>
                  <m:oMath xmlns:m="http://schemas.openxmlformats.org/officeDocument/2006/math">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𝑣</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𝑉</m:t>
                        </m:r>
                      </m:e>
                      <m:sup>
                        <m:r>
                          <a:rPr lang="en-US" i="1">
                            <a:latin typeface="Cambria Math" panose="02040503050406030204" pitchFamily="18" charset="0"/>
                            <a:ea typeface="Cambria Math" panose="02040503050406030204" pitchFamily="18" charset="0"/>
                          </a:rPr>
                          <m:t>′</m:t>
                        </m:r>
                      </m:sup>
                    </m:sSup>
                  </m:oMath>
                </a14:m>
                <a:r>
                  <a:rPr lang="en-US" b="1" i="1" dirty="0">
                    <a:ea typeface="Cambria Math" panose="02040503050406030204" pitchFamily="18" charset="0"/>
                  </a:rPr>
                  <a:t> </a:t>
                </a:r>
                <a:r>
                  <a:rPr lang="en-US" dirty="0">
                    <a:ea typeface="Cambria Math" panose="02040503050406030204" pitchFamily="18" charset="0"/>
                  </a:rPr>
                  <a:t>for all </a:t>
                </a:r>
                <a14:m>
                  <m:oMath xmlns:m="http://schemas.openxmlformats.org/officeDocument/2006/math">
                    <m:r>
                      <a:rPr lang="en-US" b="0" i="1" smtClean="0">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oMath>
                </a14:m>
                <a:r>
                  <a:rPr lang="en-US" i="1" dirty="0">
                    <a:ea typeface="Cambria Math" panose="02040503050406030204" pitchFamily="18" charset="0"/>
                  </a:rPr>
                  <a:t>.</a:t>
                </a:r>
              </a:p>
              <a:p>
                <a:r>
                  <a:rPr lang="en-US" dirty="0">
                    <a:ea typeface="Cambria Math" panose="02040503050406030204" pitchFamily="18" charset="0"/>
                  </a:rPr>
                  <a:t>An </a:t>
                </a:r>
                <a:r>
                  <a:rPr lang="en-US" b="1" dirty="0">
                    <a:ea typeface="Cambria Math" panose="02040503050406030204" pitchFamily="18" charset="0"/>
                  </a:rPr>
                  <a:t>irreducible representation </a:t>
                </a:r>
                <a:r>
                  <a:rPr lang="en-US" dirty="0">
                    <a:ea typeface="Cambria Math" panose="02040503050406030204" pitchFamily="18" charset="0"/>
                  </a:rPr>
                  <a:t>is a representation of a group G on a vector space V that has no invariant subspaces besides {0} and V itself (</a:t>
                </a:r>
                <a:r>
                  <a:rPr lang="en-US" i="1" u="sng" dirty="0">
                    <a:ea typeface="Cambria Math" panose="02040503050406030204" pitchFamily="18" charset="0"/>
                  </a:rPr>
                  <a:t>truly fundamental</a:t>
                </a:r>
                <a:r>
                  <a:rPr lang="en-US" dirty="0">
                    <a:ea typeface="Cambria Math" panose="02040503050406030204" pitchFamily="18" charset="0"/>
                  </a:rPr>
                  <a:t>). </a:t>
                </a:r>
              </a:p>
            </p:txBody>
          </p:sp>
        </mc:Choice>
        <mc:Fallback>
          <p:sp>
            <p:nvSpPr>
              <p:cNvPr id="3" name="Content Placeholder 2">
                <a:extLst>
                  <a:ext uri="{FF2B5EF4-FFF2-40B4-BE49-F238E27FC236}">
                    <a16:creationId xmlns:a16="http://schemas.microsoft.com/office/drawing/2014/main" id="{1DAA8508-B755-393F-C842-04E93547CE86}"/>
                  </a:ext>
                </a:extLst>
              </p:cNvPr>
              <p:cNvSpPr>
                <a:spLocks noGrp="1" noRot="1" noChangeAspect="1" noMove="1" noResize="1" noEditPoints="1" noAdjustHandles="1" noChangeArrowheads="1" noChangeShapeType="1" noTextEdit="1"/>
              </p:cNvSpPr>
              <p:nvPr>
                <p:ph idx="1"/>
              </p:nvPr>
            </p:nvSpPr>
            <p:spPr>
              <a:xfrm>
                <a:off x="838200" y="1032933"/>
                <a:ext cx="10515600" cy="5144030"/>
              </a:xfrm>
              <a:blipFill>
                <a:blip r:embed="rId2"/>
                <a:stretch>
                  <a:fillRect l="-928" t="-2370" r="-406"/>
                </a:stretch>
              </a:blipFill>
            </p:spPr>
            <p:txBody>
              <a:bodyPr/>
              <a:lstStyle/>
              <a:p>
                <a:r>
                  <a:rPr lang="en-US">
                    <a:noFill/>
                  </a:rPr>
                  <a:t> </a:t>
                </a:r>
              </a:p>
            </p:txBody>
          </p:sp>
        </mc:Fallback>
      </mc:AlternateContent>
    </p:spTree>
    <p:extLst>
      <p:ext uri="{BB962C8B-B14F-4D97-AF65-F5344CB8AC3E}">
        <p14:creationId xmlns:p14="http://schemas.microsoft.com/office/powerpoint/2010/main" val="1966220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84CE40E-FEF9-BB39-7D30-3F22E14AECEA}"/>
                  </a:ext>
                </a:extLst>
              </p:cNvPr>
              <p:cNvSpPr>
                <a:spLocks noGrp="1"/>
              </p:cNvSpPr>
              <p:nvPr>
                <p:ph idx="1"/>
              </p:nvPr>
            </p:nvSpPr>
            <p:spPr>
              <a:xfrm>
                <a:off x="838200" y="304800"/>
                <a:ext cx="10515600" cy="5872163"/>
              </a:xfrm>
            </p:spPr>
            <p:txBody>
              <a:bodyPr/>
              <a:lstStyle/>
              <a:p>
                <a:r>
                  <a:rPr lang="en-US" dirty="0">
                    <a:ea typeface="Cambria Math" panose="02040503050406030204" pitchFamily="18" charset="0"/>
                  </a:rPr>
                  <a:t>A </a:t>
                </a:r>
                <a:r>
                  <a:rPr lang="en-US" b="1" dirty="0">
                    <a:ea typeface="Cambria Math" panose="02040503050406030204" pitchFamily="18" charset="0"/>
                  </a:rPr>
                  <a:t>Casimir element </a:t>
                </a:r>
                <a:r>
                  <a:rPr lang="en-US" dirty="0">
                    <a:ea typeface="Cambria Math" panose="02040503050406030204" pitchFamily="18" charset="0"/>
                  </a:rPr>
                  <a:t>C is built from generators, and it commutes with every generator X of the group [C,X]=0</a:t>
                </a:r>
              </a:p>
              <a:p>
                <a:pPr lvl="1"/>
                <a:r>
                  <a:rPr lang="en-US" dirty="0"/>
                  <a:t>So, it is </a:t>
                </a:r>
                <a:r>
                  <a:rPr lang="en-US" b="1" dirty="0"/>
                  <a:t>completely invariant under the symmetry</a:t>
                </a:r>
                <a:r>
                  <a:rPr lang="en-US" dirty="0"/>
                  <a:t>.</a:t>
                </a:r>
              </a:p>
              <a:p>
                <a:pPr lvl="1"/>
                <a:r>
                  <a:rPr lang="en-US" b="1" dirty="0"/>
                  <a:t>Schur’s Lemma</a:t>
                </a:r>
                <a:r>
                  <a:rPr lang="en-US" dirty="0"/>
                  <a:t> says: If a representation </a:t>
                </a:r>
                <a14:m>
                  <m:oMath xmlns:m="http://schemas.openxmlformats.org/officeDocument/2006/math">
                    <m:r>
                      <a:rPr lang="en-US" i="1" dirty="0">
                        <a:latin typeface="Cambria Math" panose="02040503050406030204" pitchFamily="18" charset="0"/>
                      </a:rPr>
                      <m:t>𝑅</m:t>
                    </m:r>
                    <m:r>
                      <a:rPr lang="en-US" i="1" dirty="0">
                        <a:latin typeface="Cambria Math" panose="02040503050406030204" pitchFamily="18" charset="0"/>
                      </a:rPr>
                      <m:t> </m:t>
                    </m:r>
                  </m:oMath>
                </a14:m>
                <a:r>
                  <a:rPr lang="en-US" dirty="0"/>
                  <a:t>is </a:t>
                </a:r>
                <a:r>
                  <a:rPr lang="en-US" b="1" dirty="0"/>
                  <a:t>irreducible</a:t>
                </a:r>
                <a:r>
                  <a:rPr lang="en-US" dirty="0"/>
                  <a:t>, then any operator that commutes with all representation operators must be a scalar multiple of the identity </a:t>
                </a:r>
                <a14:m>
                  <m:oMath xmlns:m="http://schemas.openxmlformats.org/officeDocument/2006/math">
                    <m:r>
                      <a:rPr lang="en-US" b="0" i="1" dirty="0" smtClean="0">
                        <a:latin typeface="Cambria Math" panose="02040503050406030204" pitchFamily="18" charset="0"/>
                      </a:rPr>
                      <m:t>𝑅</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𝐶</m:t>
                        </m:r>
                      </m:e>
                    </m:d>
                    <m:r>
                      <a:rPr lang="en-US" b="0" i="1" dirty="0" smtClean="0">
                        <a:latin typeface="Cambria Math" panose="02040503050406030204" pitchFamily="18" charset="0"/>
                      </a:rPr>
                      <m:t>=</m:t>
                    </m:r>
                    <m:r>
                      <a:rPr lang="en-US" i="1" dirty="0" smtClean="0">
                        <a:latin typeface="Cambria Math" panose="02040503050406030204" pitchFamily="18" charset="0"/>
                      </a:rPr>
                      <m:t>𝑐𝐼</m:t>
                    </m:r>
                  </m:oMath>
                </a14:m>
                <a:r>
                  <a:rPr lang="en-US" dirty="0"/>
                  <a:t>.</a:t>
                </a:r>
              </a:p>
              <a:p>
                <a:r>
                  <a:rPr lang="en-US" b="1" dirty="0"/>
                  <a:t>Cartan elements </a:t>
                </a:r>
                <a:r>
                  <a:rPr lang="en-US" dirty="0"/>
                  <a:t>are the generators that can be </a:t>
                </a:r>
                <a:r>
                  <a:rPr lang="en-US" b="1" dirty="0"/>
                  <a:t>diagonalized</a:t>
                </a:r>
                <a:r>
                  <a:rPr lang="en-US" dirty="0"/>
                  <a:t> simultaneously.</a:t>
                </a:r>
              </a:p>
              <a:p>
                <a:endParaRPr lang="en-US" dirty="0"/>
              </a:p>
              <a:p>
                <a:r>
                  <a:rPr lang="en-US" b="1" dirty="0">
                    <a:solidFill>
                      <a:srgbClr val="C00000"/>
                    </a:solidFill>
                  </a:rPr>
                  <a:t>Can’t follow from here…</a:t>
                </a:r>
              </a:p>
            </p:txBody>
          </p:sp>
        </mc:Choice>
        <mc:Fallback>
          <p:sp>
            <p:nvSpPr>
              <p:cNvPr id="3" name="Content Placeholder 2">
                <a:extLst>
                  <a:ext uri="{FF2B5EF4-FFF2-40B4-BE49-F238E27FC236}">
                    <a16:creationId xmlns:a16="http://schemas.microsoft.com/office/drawing/2014/main" id="{C84CE40E-FEF9-BB39-7D30-3F22E14AECEA}"/>
                  </a:ext>
                </a:extLst>
              </p:cNvPr>
              <p:cNvSpPr>
                <a:spLocks noGrp="1" noRot="1" noChangeAspect="1" noMove="1" noResize="1" noEditPoints="1" noAdjustHandles="1" noChangeArrowheads="1" noChangeShapeType="1" noTextEdit="1"/>
              </p:cNvSpPr>
              <p:nvPr>
                <p:ph idx="1"/>
              </p:nvPr>
            </p:nvSpPr>
            <p:spPr>
              <a:xfrm>
                <a:off x="838200" y="304800"/>
                <a:ext cx="10515600" cy="5872163"/>
              </a:xfrm>
              <a:blipFill>
                <a:blip r:embed="rId2"/>
                <a:stretch>
                  <a:fillRect l="-1043" t="-1765"/>
                </a:stretch>
              </a:blipFill>
            </p:spPr>
            <p:txBody>
              <a:bodyPr/>
              <a:lstStyle/>
              <a:p>
                <a:r>
                  <a:rPr lang="en-US">
                    <a:noFill/>
                  </a:rPr>
                  <a:t> </a:t>
                </a:r>
              </a:p>
            </p:txBody>
          </p:sp>
        </mc:Fallback>
      </mc:AlternateContent>
    </p:spTree>
    <p:extLst>
      <p:ext uri="{BB962C8B-B14F-4D97-AF65-F5344CB8AC3E}">
        <p14:creationId xmlns:p14="http://schemas.microsoft.com/office/powerpoint/2010/main" val="3608826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261E-BC64-1746-39DB-5D5222462DAB}"/>
              </a:ext>
            </a:extLst>
          </p:cNvPr>
          <p:cNvSpPr>
            <a:spLocks noGrp="1"/>
          </p:cNvSpPr>
          <p:nvPr>
            <p:ph type="title"/>
          </p:nvPr>
        </p:nvSpPr>
        <p:spPr/>
        <p:txBody>
          <a:bodyPr/>
          <a:lstStyle/>
          <a:p>
            <a:r>
              <a:rPr lang="en-US" dirty="0"/>
              <a:t>4. The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E20A37-0494-B554-ABEA-9A6EE793CBA0}"/>
                  </a:ext>
                </a:extLst>
              </p:cNvPr>
              <p:cNvSpPr>
                <a:spLocks noGrp="1"/>
              </p:cNvSpPr>
              <p:nvPr>
                <p:ph idx="1"/>
              </p:nvPr>
            </p:nvSpPr>
            <p:spPr/>
            <p:txBody>
              <a:bodyPr/>
              <a:lstStyle/>
              <a:p>
                <a:r>
                  <a:rPr lang="en-US" b="1" dirty="0"/>
                  <a:t>Action (functional) </a:t>
                </a:r>
                <a:r>
                  <a:rPr lang="en-US" dirty="0"/>
                  <a:t>is the integral over the </a:t>
                </a:r>
                <a:r>
                  <a:rPr lang="en-US" b="1" dirty="0" err="1"/>
                  <a:t>Lagrangian</a:t>
                </a:r>
                <a:r>
                  <a:rPr lang="en-US" dirty="0"/>
                  <a:t>.</a:t>
                </a:r>
              </a:p>
              <a:p>
                <a:r>
                  <a:rPr lang="en-US" dirty="0"/>
                  <a:t>“Whenever any action occurs in nature, the quantity of action employed by this change is the least possible.” – Pierre de </a:t>
                </a:r>
                <a:r>
                  <a:rPr lang="en-US" dirty="0" err="1"/>
                  <a:t>Maupertius</a:t>
                </a:r>
                <a:r>
                  <a:rPr lang="en-US" dirty="0"/>
                  <a:t> (1746)</a:t>
                </a:r>
              </a:p>
              <a:p>
                <a:r>
                  <a:rPr lang="en-US" b="1" dirty="0"/>
                  <a:t>Fermat’s Principle</a:t>
                </a:r>
                <a:r>
                  <a:rPr lang="en-US" dirty="0"/>
                  <a:t>: light always chooses the path q(t) between two points in space that minimizes the time it takes to travel between the points. We define the action of a given path q(t) as </a:t>
                </a:r>
              </a:p>
              <a:p>
                <a14:m>
                  <m:oMath xmlns:m="http://schemas.openxmlformats.org/officeDocument/2006/math">
                    <m:r>
                      <a:rPr lang="en-US" b="0" i="1" smtClean="0">
                        <a:latin typeface="Cambria Math" panose="02040503050406030204" pitchFamily="18" charset="0"/>
                      </a:rPr>
                      <m:t>𝑆</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𝑑𝑡</m:t>
                        </m:r>
                      </m:e>
                    </m:nary>
                  </m:oMath>
                </a14:m>
                <a:endParaRPr lang="en-US" dirty="0"/>
              </a:p>
            </p:txBody>
          </p:sp>
        </mc:Choice>
        <mc:Fallback>
          <p:sp>
            <p:nvSpPr>
              <p:cNvPr id="3" name="Content Placeholder 2">
                <a:extLst>
                  <a:ext uri="{FF2B5EF4-FFF2-40B4-BE49-F238E27FC236}">
                    <a16:creationId xmlns:a16="http://schemas.microsoft.com/office/drawing/2014/main" id="{52E20A37-0494-B554-ABEA-9A6EE793CBA0}"/>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757599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white board with writing on it&#10;&#10;AI-generated content may be incorrect.">
            <a:extLst>
              <a:ext uri="{FF2B5EF4-FFF2-40B4-BE49-F238E27FC236}">
                <a16:creationId xmlns:a16="http://schemas.microsoft.com/office/drawing/2014/main" id="{21300881-9714-3251-D59D-5054309822F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22" b="15292"/>
          <a:stretch>
            <a:fillRect/>
          </a:stretch>
        </p:blipFill>
        <p:spPr>
          <a:xfrm>
            <a:off x="20" y="1282"/>
            <a:ext cx="12191980" cy="6856718"/>
          </a:xfrm>
          <a:prstGeom prst="rect">
            <a:avLst/>
          </a:prstGeom>
        </p:spPr>
      </p:pic>
    </p:spTree>
    <p:extLst>
      <p:ext uri="{BB962C8B-B14F-4D97-AF65-F5344CB8AC3E}">
        <p14:creationId xmlns:p14="http://schemas.microsoft.com/office/powerpoint/2010/main" val="3725878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38843-848E-E868-D1A2-EF13227F4016}"/>
              </a:ext>
            </a:extLst>
          </p:cNvPr>
          <p:cNvSpPr>
            <a:spLocks noGrp="1"/>
          </p:cNvSpPr>
          <p:nvPr>
            <p:ph type="title"/>
          </p:nvPr>
        </p:nvSpPr>
        <p:spPr>
          <a:xfrm>
            <a:off x="253999" y="720726"/>
            <a:ext cx="2125133" cy="506942"/>
          </a:xfrm>
        </p:spPr>
        <p:txBody>
          <a:bodyPr>
            <a:noAutofit/>
          </a:bodyPr>
          <a:lstStyle/>
          <a:p>
            <a:r>
              <a:rPr lang="en-US" sz="3600" dirty="0"/>
              <a:t>Noether’s theorem</a:t>
            </a:r>
          </a:p>
        </p:txBody>
      </p:sp>
      <p:pic>
        <p:nvPicPr>
          <p:cNvPr id="7" name="Picture 6" descr="A white board with writing on it&#10;&#10;AI-generated content may be incorrect.">
            <a:extLst>
              <a:ext uri="{FF2B5EF4-FFF2-40B4-BE49-F238E27FC236}">
                <a16:creationId xmlns:a16="http://schemas.microsoft.com/office/drawing/2014/main" id="{0059A9E1-A048-A4ED-F322-9B49FEA6E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9132" y="0"/>
            <a:ext cx="9812868" cy="6858000"/>
          </a:xfrm>
          <a:prstGeom prst="rect">
            <a:avLst/>
          </a:prstGeom>
        </p:spPr>
      </p:pic>
    </p:spTree>
    <p:extLst>
      <p:ext uri="{BB962C8B-B14F-4D97-AF65-F5344CB8AC3E}">
        <p14:creationId xmlns:p14="http://schemas.microsoft.com/office/powerpoint/2010/main" val="2573515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BE3A6-D901-6902-3C8D-5F3709CC630F}"/>
              </a:ext>
            </a:extLst>
          </p:cNvPr>
          <p:cNvSpPr>
            <a:spLocks noGrp="1"/>
          </p:cNvSpPr>
          <p:nvPr>
            <p:ph type="title"/>
          </p:nvPr>
        </p:nvSpPr>
        <p:spPr/>
        <p:txBody>
          <a:bodyPr>
            <a:noAutofit/>
          </a:bodyPr>
          <a:lstStyle/>
          <a:p>
            <a:r>
              <a:rPr lang="en-US" sz="2400" b="1" dirty="0">
                <a:highlight>
                  <a:srgbClr val="FFFF00"/>
                </a:highlight>
              </a:rPr>
              <a:t>Data-driven dimensional analysis: algorithms for unique and relevant dimensionless groups </a:t>
            </a:r>
            <a:br>
              <a:rPr lang="en-US" sz="2400" dirty="0">
                <a:highlight>
                  <a:srgbClr val="FFFF00"/>
                </a:highlight>
              </a:rPr>
            </a:br>
            <a:r>
              <a:rPr lang="en-US" sz="2400" dirty="0"/>
              <a:t>Paul G. </a:t>
            </a:r>
            <a:r>
              <a:rPr lang="en-US" sz="2400" dirty="0" err="1"/>
              <a:t>Constantinea</a:t>
            </a:r>
            <a:r>
              <a:rPr lang="en-US" sz="2400" dirty="0"/>
              <a:t> , Zachary del </a:t>
            </a:r>
            <a:r>
              <a:rPr lang="en-US" sz="2400" dirty="0" err="1"/>
              <a:t>Rosariob</a:t>
            </a:r>
            <a:r>
              <a:rPr lang="en-US" sz="2400" dirty="0"/>
              <a:t> , Gianluca </a:t>
            </a:r>
            <a:r>
              <a:rPr lang="en-US" sz="2400" dirty="0" err="1"/>
              <a:t>Iaccarinoc</a:t>
            </a:r>
            <a:endParaRPr lang="en-US" sz="2400" dirty="0"/>
          </a:p>
        </p:txBody>
      </p:sp>
      <p:sp>
        <p:nvSpPr>
          <p:cNvPr id="3" name="Content Placeholder 2">
            <a:extLst>
              <a:ext uri="{FF2B5EF4-FFF2-40B4-BE49-F238E27FC236}">
                <a16:creationId xmlns:a16="http://schemas.microsoft.com/office/drawing/2014/main" id="{1EB4EC70-ECD5-A16E-39A3-FA52B9D078EB}"/>
              </a:ext>
            </a:extLst>
          </p:cNvPr>
          <p:cNvSpPr>
            <a:spLocks noGrp="1"/>
          </p:cNvSpPr>
          <p:nvPr>
            <p:ph idx="1"/>
          </p:nvPr>
        </p:nvSpPr>
        <p:spPr/>
        <p:txBody>
          <a:bodyPr/>
          <a:lstStyle/>
          <a:p>
            <a:r>
              <a:rPr lang="en-US" altLang="zh-CN" dirty="0"/>
              <a:t>A</a:t>
            </a:r>
            <a:r>
              <a:rPr lang="en-US" dirty="0"/>
              <a:t>ll empirical models are </a:t>
            </a:r>
            <a:r>
              <a:rPr lang="en-US" b="1" dirty="0"/>
              <a:t>ridge functions</a:t>
            </a:r>
            <a:r>
              <a:rPr lang="en-US" dirty="0"/>
              <a:t>, which are functions that are constant along low-dimensional subspaces in its domain.</a:t>
            </a:r>
          </a:p>
          <a:p>
            <a:r>
              <a:rPr lang="en-US" dirty="0"/>
              <a:t>a unit is a type of dimension; for example, both </a:t>
            </a:r>
            <a:r>
              <a:rPr lang="en-US" i="1" dirty="0"/>
              <a:t>meter</a:t>
            </a:r>
            <a:r>
              <a:rPr lang="en-US" dirty="0"/>
              <a:t> and </a:t>
            </a:r>
            <a:r>
              <a:rPr lang="en-US" i="1" dirty="0"/>
              <a:t>foot </a:t>
            </a:r>
            <a:r>
              <a:rPr lang="en-US" dirty="0"/>
              <a:t>are types of the dimension </a:t>
            </a:r>
            <a:r>
              <a:rPr lang="en-US" i="1" dirty="0"/>
              <a:t>length</a:t>
            </a:r>
            <a:r>
              <a:rPr lang="en-US" dirty="0"/>
              <a:t>.</a:t>
            </a:r>
          </a:p>
          <a:p>
            <a:r>
              <a:rPr lang="en-US" i="1" dirty="0"/>
              <a:t>dimension reduction (</a:t>
            </a:r>
            <a:r>
              <a:rPr lang="en-US" b="1" i="1" u="sng" dirty="0"/>
              <a:t>here</a:t>
            </a:r>
            <a:r>
              <a:rPr lang="en-US" i="1" dirty="0"/>
              <a:t>)</a:t>
            </a:r>
            <a:r>
              <a:rPr lang="en-US" dirty="0"/>
              <a:t> means replacing or approximating a function f : R m → R by some other function g : R n → R, where n &lt; m.</a:t>
            </a:r>
          </a:p>
        </p:txBody>
      </p:sp>
    </p:spTree>
    <p:extLst>
      <p:ext uri="{BB962C8B-B14F-4D97-AF65-F5344CB8AC3E}">
        <p14:creationId xmlns:p14="http://schemas.microsoft.com/office/powerpoint/2010/main" val="552679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5DE4-7C9A-D295-0912-E3988CD7AC88}"/>
              </a:ext>
            </a:extLst>
          </p:cNvPr>
          <p:cNvSpPr>
            <a:spLocks noGrp="1"/>
          </p:cNvSpPr>
          <p:nvPr>
            <p:ph type="title"/>
          </p:nvPr>
        </p:nvSpPr>
        <p:spPr/>
        <p:txBody>
          <a:bodyPr>
            <a:normAutofit fontScale="90000"/>
          </a:bodyPr>
          <a:lstStyle/>
          <a:p>
            <a:r>
              <a:rPr lang="en-US" b="1" dirty="0">
                <a:highlight>
                  <a:srgbClr val="FFFF00"/>
                </a:highlight>
              </a:rPr>
              <a:t>A Unified Framework to Enforce, Discover, and Promote Symmetry in Machine Learning</a:t>
            </a:r>
          </a:p>
        </p:txBody>
      </p:sp>
      <p:sp>
        <p:nvSpPr>
          <p:cNvPr id="3" name="Content Placeholder 2">
            <a:extLst>
              <a:ext uri="{FF2B5EF4-FFF2-40B4-BE49-F238E27FC236}">
                <a16:creationId xmlns:a16="http://schemas.microsoft.com/office/drawing/2014/main" id="{60ED0004-BF70-F374-C4BA-49D34CA01185}"/>
              </a:ext>
            </a:extLst>
          </p:cNvPr>
          <p:cNvSpPr>
            <a:spLocks noGrp="1"/>
          </p:cNvSpPr>
          <p:nvPr>
            <p:ph idx="1"/>
          </p:nvPr>
        </p:nvSpPr>
        <p:spPr/>
        <p:txBody>
          <a:bodyPr/>
          <a:lstStyle/>
          <a:p>
            <a:r>
              <a:rPr lang="en-US" dirty="0"/>
              <a:t>Samuel E. Otto ∗ s.otto@cornell.edu AI Institute in Dynamic Systems University of Washington Seattle, WA 98195-4322, USA Nicholas Zolman nzolman@uw.edu AI Institute in Dynamic Systems University of Washington Seattle, WA 98195-4322, USA J. Nathan Kutz kutz@uw.edu AI Institute in Dynamic Systems University of Washington Seattle, WA 98195-4322, USA Steven L. Brunton sbrunton@uw.edu AI Institute in Dynamic Systems University of Washington Seattle, WA 98195-4322, USA</a:t>
            </a:r>
          </a:p>
        </p:txBody>
      </p:sp>
    </p:spTree>
    <p:extLst>
      <p:ext uri="{BB962C8B-B14F-4D97-AF65-F5344CB8AC3E}">
        <p14:creationId xmlns:p14="http://schemas.microsoft.com/office/powerpoint/2010/main" val="3810692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5F5D-84CC-B453-2606-D3F2836AEE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B4B02B-2FF4-090C-FB7F-DFDB2721E194}"/>
              </a:ext>
            </a:extLst>
          </p:cNvPr>
          <p:cNvSpPr>
            <a:spLocks noGrp="1"/>
          </p:cNvSpPr>
          <p:nvPr>
            <p:ph idx="1"/>
          </p:nvPr>
        </p:nvSpPr>
        <p:spPr/>
        <p:txBody>
          <a:bodyPr>
            <a:normAutofit fontScale="92500" lnSpcReduction="10000"/>
          </a:bodyPr>
          <a:lstStyle/>
          <a:p>
            <a:r>
              <a:rPr lang="en-US" dirty="0"/>
              <a:t>they illustrate how </a:t>
            </a:r>
            <a:r>
              <a:rPr lang="en-US" i="1" dirty="0"/>
              <a:t>symmetric models and theories in physics automatically extrapolate in explainable ways to environments beyond the available data.</a:t>
            </a:r>
          </a:p>
          <a:p>
            <a:r>
              <a:rPr lang="en-US" dirty="0"/>
              <a:t>Task 1. Enforce. Train a model with known symmetry. </a:t>
            </a:r>
          </a:p>
          <a:p>
            <a:r>
              <a:rPr lang="en-US" b="1" dirty="0"/>
              <a:t>Task 2. Discover. Identify the symmetries of a given model or data set. </a:t>
            </a:r>
          </a:p>
          <a:p>
            <a:r>
              <a:rPr lang="en-US" dirty="0"/>
              <a:t>Task 3. Promote. Train a model with as many symmetries as possible (from among candidates), breaking symmetries only when there is sufficient evidence in the data</a:t>
            </a:r>
          </a:p>
          <a:p>
            <a:r>
              <a:rPr lang="en-US" b="1" dirty="0">
                <a:solidFill>
                  <a:srgbClr val="C00000"/>
                </a:solidFill>
              </a:rPr>
              <a:t>Lie derivative associated with fiber-linear Lie group actions on vector bundles.</a:t>
            </a:r>
            <a:endParaRPr lang="en-US" b="1" i="1" dirty="0">
              <a:solidFill>
                <a:srgbClr val="C00000"/>
              </a:solidFill>
            </a:endParaRPr>
          </a:p>
        </p:txBody>
      </p:sp>
    </p:spTree>
    <p:extLst>
      <p:ext uri="{BB962C8B-B14F-4D97-AF65-F5344CB8AC3E}">
        <p14:creationId xmlns:p14="http://schemas.microsoft.com/office/powerpoint/2010/main" val="280867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46A0C-5712-5FAE-593B-F8E408EC91D8}"/>
              </a:ext>
            </a:extLst>
          </p:cNvPr>
          <p:cNvSpPr>
            <a:spLocks noGrp="1"/>
          </p:cNvSpPr>
          <p:nvPr>
            <p:ph type="title"/>
          </p:nvPr>
        </p:nvSpPr>
        <p:spPr/>
        <p:txBody>
          <a:bodyPr/>
          <a:lstStyle/>
          <a:p>
            <a:r>
              <a:rPr lang="en-US" b="1" i="1" dirty="0">
                <a:highlight>
                  <a:srgbClr val="FFFF00"/>
                </a:highlight>
              </a:rPr>
              <a:t>Data-driven discovery of self-similarity using neural networks</a:t>
            </a:r>
          </a:p>
        </p:txBody>
      </p:sp>
      <p:sp>
        <p:nvSpPr>
          <p:cNvPr id="3" name="Content Placeholder 2">
            <a:extLst>
              <a:ext uri="{FF2B5EF4-FFF2-40B4-BE49-F238E27FC236}">
                <a16:creationId xmlns:a16="http://schemas.microsoft.com/office/drawing/2014/main" id="{FB755225-4B2C-7E70-2EB9-61495E5F7BE2}"/>
              </a:ext>
            </a:extLst>
          </p:cNvPr>
          <p:cNvSpPr>
            <a:spLocks noGrp="1"/>
          </p:cNvSpPr>
          <p:nvPr>
            <p:ph idx="1"/>
          </p:nvPr>
        </p:nvSpPr>
        <p:spPr/>
        <p:txBody>
          <a:bodyPr>
            <a:normAutofit fontScale="85000" lnSpcReduction="20000"/>
          </a:bodyPr>
          <a:lstStyle/>
          <a:p>
            <a:r>
              <a:rPr lang="en-US" dirty="0"/>
              <a:t>PHYSICAL REVIEW E 111, 024301 (2025)</a:t>
            </a:r>
          </a:p>
          <a:p>
            <a:r>
              <a:rPr lang="en-US" dirty="0"/>
              <a:t>when the training is successful, we can extract the power exponents that characterize </a:t>
            </a:r>
            <a:r>
              <a:rPr lang="en-US" b="1" dirty="0"/>
              <a:t>scale-transformation symmetries </a:t>
            </a:r>
            <a:r>
              <a:rPr lang="en-US" dirty="0"/>
              <a:t>of the physical problem</a:t>
            </a:r>
          </a:p>
          <a:p>
            <a:r>
              <a:rPr lang="en-US" b="1" i="1" dirty="0"/>
              <a:t>data collapse</a:t>
            </a:r>
            <a:r>
              <a:rPr lang="en-US" dirty="0"/>
              <a:t>, in which all data points lie on a lowdimensional manifold by choosing the similarity parameters as the axes of the data plot</a:t>
            </a:r>
          </a:p>
          <a:p>
            <a:r>
              <a:rPr lang="en-US" i="1" dirty="0"/>
              <a:t>similarity of the first kind</a:t>
            </a:r>
          </a:p>
          <a:p>
            <a:r>
              <a:rPr lang="en-US" i="1" dirty="0"/>
              <a:t>similarity of the second kind</a:t>
            </a:r>
          </a:p>
          <a:p>
            <a:r>
              <a:rPr lang="en-US" dirty="0"/>
              <a:t>incorporate </a:t>
            </a:r>
            <a:r>
              <a:rPr lang="en-US" b="1" dirty="0"/>
              <a:t>symmetry under scale transformations </a:t>
            </a:r>
            <a:r>
              <a:rPr lang="en-US" dirty="0"/>
              <a:t>in a parametrized manner;</a:t>
            </a:r>
          </a:p>
          <a:p>
            <a:r>
              <a:rPr lang="en-US" dirty="0"/>
              <a:t>The identification of self-similarity </a:t>
            </a:r>
            <a:r>
              <a:rPr lang="en-US" dirty="0">
                <a:solidFill>
                  <a:srgbClr val="C00000"/>
                </a:solidFill>
              </a:rPr>
              <a:t>is equivalent to </a:t>
            </a:r>
            <a:r>
              <a:rPr lang="en-US" dirty="0"/>
              <a:t>finding scale-transformation </a:t>
            </a:r>
            <a:r>
              <a:rPr lang="en-US" i="1" dirty="0"/>
              <a:t>symmetry </a:t>
            </a:r>
            <a:r>
              <a:rPr lang="en-US" dirty="0"/>
              <a:t>inherent in the phenomenon of interest.</a:t>
            </a:r>
          </a:p>
          <a:p>
            <a:r>
              <a:rPr lang="en-US" dirty="0"/>
              <a:t>generators of scale transformations</a:t>
            </a:r>
          </a:p>
        </p:txBody>
      </p:sp>
    </p:spTree>
    <p:extLst>
      <p:ext uri="{BB962C8B-B14F-4D97-AF65-F5344CB8AC3E}">
        <p14:creationId xmlns:p14="http://schemas.microsoft.com/office/powerpoint/2010/main" val="1712279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DE79-8184-CD58-2075-F8F54A771A6D}"/>
              </a:ext>
            </a:extLst>
          </p:cNvPr>
          <p:cNvSpPr>
            <a:spLocks noGrp="1"/>
          </p:cNvSpPr>
          <p:nvPr>
            <p:ph type="title"/>
          </p:nvPr>
        </p:nvSpPr>
        <p:spPr>
          <a:xfrm>
            <a:off x="143933" y="432858"/>
            <a:ext cx="2413000" cy="1325563"/>
          </a:xfrm>
        </p:spPr>
        <p:txBody>
          <a:bodyPr>
            <a:normAutofit/>
          </a:bodyPr>
          <a:lstStyle/>
          <a:p>
            <a:r>
              <a:rPr lang="en-US" sz="3200" b="1" dirty="0">
                <a:highlight>
                  <a:srgbClr val="FFFF00"/>
                </a:highlight>
              </a:rPr>
              <a:t>General framework</a:t>
            </a:r>
          </a:p>
        </p:txBody>
      </p:sp>
      <p:pic>
        <p:nvPicPr>
          <p:cNvPr id="5" name="Content Placeholder 4" descr="A white board with writing on it&#10;&#10;AI-generated content may be incorrect.">
            <a:extLst>
              <a:ext uri="{FF2B5EF4-FFF2-40B4-BE49-F238E27FC236}">
                <a16:creationId xmlns:a16="http://schemas.microsoft.com/office/drawing/2014/main" id="{4559DADC-21D4-67DF-05A6-E0A3186D16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6255" y="-36615"/>
            <a:ext cx="9245252" cy="6931229"/>
          </a:xfrm>
        </p:spPr>
      </p:pic>
    </p:spTree>
    <p:extLst>
      <p:ext uri="{BB962C8B-B14F-4D97-AF65-F5344CB8AC3E}">
        <p14:creationId xmlns:p14="http://schemas.microsoft.com/office/powerpoint/2010/main" val="2420400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14A8-301A-C1F3-A366-50041640E314}"/>
              </a:ext>
            </a:extLst>
          </p:cNvPr>
          <p:cNvSpPr>
            <a:spLocks noGrp="1"/>
          </p:cNvSpPr>
          <p:nvPr>
            <p:ph type="title"/>
          </p:nvPr>
        </p:nvSpPr>
        <p:spPr/>
        <p:txBody>
          <a:bodyPr/>
          <a:lstStyle/>
          <a:p>
            <a:endParaRPr lang="en-US"/>
          </a:p>
        </p:txBody>
      </p:sp>
      <p:pic>
        <p:nvPicPr>
          <p:cNvPr id="5" name="Content Placeholder 4" descr="A white board with writing on it&#10;&#10;AI-generated content may be incorrect.">
            <a:extLst>
              <a:ext uri="{FF2B5EF4-FFF2-40B4-BE49-F238E27FC236}">
                <a16:creationId xmlns:a16="http://schemas.microsoft.com/office/drawing/2014/main" id="{1075599B-5D1B-E4D5-25C8-381C1260A1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5253" y="0"/>
            <a:ext cx="9147575" cy="6858000"/>
          </a:xfrm>
        </p:spPr>
      </p:pic>
    </p:spTree>
    <p:extLst>
      <p:ext uri="{BB962C8B-B14F-4D97-AF65-F5344CB8AC3E}">
        <p14:creationId xmlns:p14="http://schemas.microsoft.com/office/powerpoint/2010/main" val="830844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16051</TotalTime>
  <Words>1859</Words>
  <Application>Microsoft Office PowerPoint</Application>
  <PresentationFormat>Widescreen</PresentationFormat>
  <Paragraphs>109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Cambria Math</vt:lpstr>
      <vt:lpstr>Office Theme</vt:lpstr>
      <vt:lpstr>Physics from symmetry</vt:lpstr>
      <vt:lpstr>PowerPoint Presentation</vt:lpstr>
      <vt:lpstr>Elementary Particles</vt:lpstr>
      <vt:lpstr>2. Special relativity</vt:lpstr>
      <vt:lpstr>Special relativity to Minkowski notation to Lorenz transformations</vt:lpstr>
      <vt:lpstr>PowerPoint Presentation</vt:lpstr>
      <vt:lpstr>Part II symmetry tools: Lie Group Theory</vt:lpstr>
      <vt:lpstr>Group theory</vt:lpstr>
      <vt:lpstr>Lie Group </vt:lpstr>
      <vt:lpstr>SU(2) and SO(3) have the same Lie bracket [J_i,J_j ]=iϵ_ijk J_k</vt:lpstr>
      <vt:lpstr>Representation Theory</vt:lpstr>
      <vt:lpstr>PowerPoint Presentation</vt:lpstr>
      <vt:lpstr>4. The Framework</vt:lpstr>
      <vt:lpstr>PowerPoint Presentation</vt:lpstr>
      <vt:lpstr>Noether’s theorem</vt:lpstr>
      <vt:lpstr>Data-driven dimensional analysis: algorithms for unique and relevant dimensionless groups  Paul G. Constantinea , Zachary del Rosariob , Gianluca Iaccarinoc</vt:lpstr>
      <vt:lpstr>A Unified Framework to Enforce, Discover, and Promote Symmetry in Machine Learning</vt:lpstr>
      <vt:lpstr>PowerPoint Presentation</vt:lpstr>
      <vt:lpstr>Data-driven discovery of self-similarity using neural networks</vt:lpstr>
      <vt:lpstr>General framework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Zhengtao Gan</dc:creator>
  <cp:lastModifiedBy>Zhengtao Gan</cp:lastModifiedBy>
  <cp:revision>2</cp:revision>
  <dcterms:created xsi:type="dcterms:W3CDTF">2025-12-17T17:03:06Z</dcterms:created>
  <dcterms:modified xsi:type="dcterms:W3CDTF">2025-12-30T06:16:16Z</dcterms:modified>
</cp:coreProperties>
</file>